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0956" y="2511933"/>
            <a:ext cx="653008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4452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0" y="45720"/>
                </a:moveTo>
                <a:lnTo>
                  <a:pt x="12192000" y="45720"/>
                </a:lnTo>
                <a:lnTo>
                  <a:pt x="12192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184147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0" y="12192"/>
                </a:moveTo>
                <a:lnTo>
                  <a:pt x="12192000" y="12192"/>
                </a:lnTo>
                <a:lnTo>
                  <a:pt x="121920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4452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306311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0" y="0"/>
                </a:moveTo>
                <a:lnTo>
                  <a:pt x="0" y="45719"/>
                </a:lnTo>
                <a:lnTo>
                  <a:pt x="12191999" y="45719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300215"/>
            <a:ext cx="12192000" cy="58419"/>
          </a:xfrm>
          <a:custGeom>
            <a:avLst/>
            <a:gdLst/>
            <a:ahLst/>
            <a:cxnLst/>
            <a:rect l="l" t="t" r="r" b="b"/>
            <a:pathLst>
              <a:path w="12192000" h="58420">
                <a:moveTo>
                  <a:pt x="12191987" y="45720"/>
                </a:moveTo>
                <a:lnTo>
                  <a:pt x="0" y="45720"/>
                </a:lnTo>
                <a:lnTo>
                  <a:pt x="0" y="57912"/>
                </a:lnTo>
                <a:lnTo>
                  <a:pt x="12191987" y="57912"/>
                </a:lnTo>
                <a:lnTo>
                  <a:pt x="12191987" y="45720"/>
                </a:lnTo>
                <a:close/>
              </a:path>
              <a:path w="12192000" h="58420">
                <a:moveTo>
                  <a:pt x="12191987" y="0"/>
                </a:moveTo>
                <a:lnTo>
                  <a:pt x="0" y="0"/>
                </a:lnTo>
                <a:lnTo>
                  <a:pt x="0" y="12192"/>
                </a:lnTo>
                <a:lnTo>
                  <a:pt x="12191987" y="12192"/>
                </a:lnTo>
                <a:lnTo>
                  <a:pt x="12191987" y="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5" y="440512"/>
            <a:ext cx="11655348" cy="560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8325" y="1172741"/>
            <a:ext cx="11655348" cy="3351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63285" y="6508631"/>
            <a:ext cx="171386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830956" y="2511933"/>
            <a:ext cx="737984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3893820" algn="l"/>
              </a:tabLst>
            </a:pPr>
            <a:r>
              <a:rPr dirty="0"/>
              <a:t>IoT</a:t>
            </a:r>
            <a:r>
              <a:rPr spc="-105" dirty="0"/>
              <a:t> </a:t>
            </a:r>
            <a:r>
              <a:rPr lang="en-IN" spc="-105" dirty="0"/>
              <a:t>S</a:t>
            </a:r>
            <a:r>
              <a:rPr dirty="0" err="1"/>
              <a:t>ecurity</a:t>
            </a:r>
            <a:r>
              <a:rPr dirty="0"/>
              <a:t>	</a:t>
            </a:r>
            <a:r>
              <a:rPr lang="en-IN" dirty="0"/>
              <a:t>L</a:t>
            </a:r>
            <a:r>
              <a:rPr dirty="0" err="1"/>
              <a:t>ifecycle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406644" y="4501642"/>
            <a:ext cx="1380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Module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0734" y="6426504"/>
            <a:ext cx="19704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1200" spc="-20" dirty="0">
                <a:solidFill>
                  <a:srgbClr val="888888"/>
                </a:solidFill>
                <a:latin typeface="Calibri"/>
                <a:cs typeface="Calibri"/>
              </a:rPr>
              <a:t>Dr. Ganesh Khekare, SCOPE, VIT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3285" y="6492036"/>
            <a:ext cx="17138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Privacy</a:t>
            </a:r>
            <a:r>
              <a:rPr sz="12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6FC0"/>
                </a:solidFill>
                <a:latin typeface="Times New Roman"/>
                <a:cs typeface="Times New Roman"/>
              </a:rPr>
              <a:t>&amp;</a:t>
            </a:r>
            <a:r>
              <a:rPr sz="1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Security</a:t>
            </a:r>
            <a:r>
              <a:rPr sz="12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1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IoT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5050" y="432561"/>
            <a:ext cx="4980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20" dirty="0"/>
              <a:t> </a:t>
            </a:r>
            <a:r>
              <a:rPr sz="3600" dirty="0"/>
              <a:t>IoT</a:t>
            </a:r>
            <a:r>
              <a:rPr sz="3600" spc="-85" dirty="0"/>
              <a:t> </a:t>
            </a:r>
            <a:r>
              <a:rPr sz="3600" dirty="0"/>
              <a:t>Security</a:t>
            </a:r>
            <a:r>
              <a:rPr sz="3600" spc="-25" dirty="0"/>
              <a:t> </a:t>
            </a:r>
            <a:r>
              <a:rPr sz="3600" spc="-5" dirty="0"/>
              <a:t>Lifecycle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68325" y="1265935"/>
            <a:ext cx="11597005" cy="38900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9525" indent="-2286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security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engineer's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define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appropriate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lifecycle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focused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maintaining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across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enterprise.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590"/>
              </a:lnSpc>
              <a:spcBef>
                <a:spcPts val="1614"/>
              </a:spcBef>
              <a:buFont typeface="Arial MT"/>
              <a:buChar char="•"/>
              <a:tabLst>
                <a:tab pos="241300" algn="l"/>
                <a:tab pos="862965" algn="l"/>
                <a:tab pos="2059305" algn="l"/>
                <a:tab pos="2411095" algn="l"/>
                <a:tab pos="3642995" algn="l"/>
                <a:tab pos="4028440" algn="l"/>
                <a:tab pos="4464685" algn="l"/>
                <a:tab pos="5772150" algn="l"/>
                <a:tab pos="6985634" algn="l"/>
                <a:tab pos="7489825" algn="l"/>
                <a:tab pos="8011159" algn="l"/>
                <a:tab pos="8937625" algn="l"/>
                <a:tab pos="10083800" algn="l"/>
                <a:tab pos="10486390" algn="l"/>
                <a:tab pos="11142980" algn="l"/>
              </a:tabLst>
            </a:pPr>
            <a:r>
              <a:rPr sz="2400" dirty="0">
                <a:latin typeface="Times New Roman"/>
                <a:cs typeface="Times New Roman"/>
              </a:rPr>
              <a:t>The	l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cy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le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ig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ed	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	be	</a:t>
            </a:r>
            <a:r>
              <a:rPr sz="2400" b="1" dirty="0">
                <a:latin typeface="Times New Roman"/>
                <a:cs typeface="Times New Roman"/>
              </a:rPr>
              <a:t>iterati</a:t>
            </a:r>
            <a:r>
              <a:rPr sz="2400" b="1" spc="-15" dirty="0">
                <a:latin typeface="Times New Roman"/>
                <a:cs typeface="Times New Roman"/>
              </a:rPr>
              <a:t>v</a:t>
            </a:r>
            <a:r>
              <a:rPr sz="2400" b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,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owing	for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secure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dd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on	of	</a:t>
            </a:r>
            <a:r>
              <a:rPr sz="2400" spc="-5" dirty="0">
                <a:latin typeface="Times New Roman"/>
                <a:cs typeface="Times New Roman"/>
              </a:rPr>
              <a:t>new</a:t>
            </a:r>
            <a:r>
              <a:rPr sz="2400" dirty="0">
                <a:latin typeface="Times New Roman"/>
                <a:cs typeface="Times New Roman"/>
              </a:rPr>
              <a:t>	IoT  </a:t>
            </a:r>
            <a:r>
              <a:rPr sz="2400" spc="-5" dirty="0">
                <a:latin typeface="Times New Roman"/>
                <a:cs typeface="Times New Roman"/>
              </a:rPr>
              <a:t>capabilities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enterprise.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7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 IoT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lifecycle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enterprise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ecosystem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following: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Privacy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potential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leak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sensitive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securely.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Autonomous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device-to-device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worsen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impact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intrusion.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577" y="6507276"/>
            <a:ext cx="18199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sz="1000" spc="-5" dirty="0">
                <a:solidFill>
                  <a:srgbClr val="006FC0"/>
                </a:solidFill>
                <a:latin typeface="Times New Roman"/>
                <a:cs typeface="Times New Roman"/>
              </a:rPr>
              <a:t>Dr. Ganesh Khekare, SCOPE, VIT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0734" y="6426504"/>
            <a:ext cx="19704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1200" spc="-20" dirty="0">
                <a:solidFill>
                  <a:srgbClr val="888888"/>
                </a:solidFill>
                <a:latin typeface="Calibri"/>
                <a:cs typeface="Calibri"/>
              </a:rPr>
              <a:t>Dr. Ganesh Khekare, SCOPE, VIT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0"/>
            <a:ext cx="9157716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563308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integration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258316"/>
            <a:ext cx="11600180" cy="43084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670685" algn="l"/>
                <a:tab pos="3723640" algn="l"/>
                <a:tab pos="4420235" algn="l"/>
                <a:tab pos="5234305" algn="l"/>
                <a:tab pos="6168390" algn="l"/>
                <a:tab pos="7360284" algn="l"/>
                <a:tab pos="7920990" algn="l"/>
                <a:tab pos="9488170" algn="l"/>
                <a:tab pos="11073130" algn="l"/>
              </a:tabLst>
            </a:pPr>
            <a:r>
              <a:rPr sz="2800" spc="-5" dirty="0">
                <a:latin typeface="Times New Roman"/>
                <a:cs typeface="Times New Roman"/>
              </a:rPr>
              <a:t>En</a:t>
            </a: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5" dirty="0">
                <a:latin typeface="Times New Roman"/>
                <a:cs typeface="Times New Roman"/>
              </a:rPr>
              <a:t>-u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45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gan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z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</a:t>
            </a:r>
            <a:r>
              <a:rPr sz="2800" spc="-1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have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any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tions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dep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oy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nc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ional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T  capabilities.</a:t>
            </a:r>
            <a:endParaRPr sz="28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Times New Roman"/>
                <a:cs typeface="Times New Roman"/>
              </a:rPr>
              <a:t>Some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organizations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themselves.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many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exist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procurement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pre-packaged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systems.</a:t>
            </a:r>
            <a:endParaRPr sz="2400">
              <a:latin typeface="Times New Roman"/>
              <a:cs typeface="Times New Roman"/>
            </a:endParaRPr>
          </a:p>
          <a:p>
            <a:pPr marL="241300" marR="15240" indent="-228600">
              <a:lnSpc>
                <a:spcPts val="302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1736089" algn="l"/>
                <a:tab pos="2974975" algn="l"/>
                <a:tab pos="5074285" algn="l"/>
                <a:tab pos="6355715" algn="l"/>
                <a:tab pos="8049259" algn="l"/>
                <a:tab pos="9308465" algn="l"/>
                <a:tab pos="10626725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Line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</a:t>
            </a:r>
            <a:r>
              <a:rPr sz="2800" spc="5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ht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(BLO</a:t>
            </a:r>
            <a:r>
              <a:rPr sz="2800" spc="1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5" dirty="0">
                <a:latin typeface="Times New Roman"/>
                <a:cs typeface="Times New Roman"/>
              </a:rPr>
              <a:t>n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anned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Aircraft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" dirty="0">
                <a:latin typeface="Times New Roman"/>
                <a:cs typeface="Times New Roman"/>
              </a:rPr>
              <a:t>ste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(U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)  operations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United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241300" marR="12065" indent="-228600" algn="just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first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step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lifecycle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create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concept</a:t>
            </a:r>
            <a:r>
              <a:rPr sz="2800" dirty="0">
                <a:latin typeface="Times New Roman"/>
                <a:cs typeface="Times New Roman"/>
              </a:rPr>
              <a:t> of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operations </a:t>
            </a:r>
            <a:r>
              <a:rPr sz="2800" dirty="0">
                <a:latin typeface="Times New Roman"/>
                <a:cs typeface="Times New Roman"/>
              </a:rPr>
              <a:t>(CONOPS) </a:t>
            </a:r>
            <a:r>
              <a:rPr sz="2800" spc="-5" dirty="0">
                <a:latin typeface="Times New Roman"/>
                <a:cs typeface="Times New Roman"/>
              </a:rPr>
              <a:t>document reflecting the given system, its security needs,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satisfy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them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1925" cy="3223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IoT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CONOPS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document: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0" dirty="0">
                <a:latin typeface="Times New Roman"/>
                <a:cs typeface="Times New Roman"/>
              </a:rPr>
              <a:t>Tool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methodically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detailing 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document </a:t>
            </a:r>
            <a:r>
              <a:rPr sz="2800" spc="-5" dirty="0">
                <a:latin typeface="Times New Roman"/>
                <a:cs typeface="Times New Roman"/>
              </a:rPr>
              <a:t>should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written and maintained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5" dirty="0">
                <a:latin typeface="Times New Roman"/>
                <a:cs typeface="Times New Roman"/>
              </a:rPr>
              <a:t>IoT system operators </a:t>
            </a:r>
            <a:r>
              <a:rPr sz="2800" spc="-15" dirty="0">
                <a:latin typeface="Times New Roman"/>
                <a:cs typeface="Times New Roman"/>
              </a:rPr>
              <a:t>to 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provide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roadmap</a:t>
            </a:r>
            <a:r>
              <a:rPr sz="2800" dirty="0">
                <a:latin typeface="Times New Roman"/>
                <a:cs typeface="Times New Roman"/>
              </a:rPr>
              <a:t> 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implementers</a:t>
            </a:r>
            <a:r>
              <a:rPr sz="2800" dirty="0">
                <a:latin typeface="Times New Roman"/>
                <a:cs typeface="Times New Roman"/>
              </a:rPr>
              <a:t> during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implementation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 integration.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IoT security CONOPS document should contain material covering, </a:t>
            </a:r>
            <a:r>
              <a:rPr sz="2800" spc="-10" dirty="0">
                <a:latin typeface="Times New Roman"/>
                <a:cs typeface="Times New Roman"/>
              </a:rPr>
              <a:t>at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minimum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following,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860" y="1358284"/>
            <a:ext cx="8677275" cy="49160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68325" y="1265935"/>
            <a:ext cx="2941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Example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CONOPS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3830" cy="39389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latin typeface="Times New Roman"/>
                <a:cs typeface="Times New Roman"/>
              </a:rPr>
              <a:t>Network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integration: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Examining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integration 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WSNs</a:t>
            </a:r>
            <a:endParaRPr sz="28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WSN,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includes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sensors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probably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RF-based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protocol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ZigBee.</a:t>
            </a:r>
            <a:endParaRPr sz="2400">
              <a:latin typeface="Times New Roman"/>
              <a:cs typeface="Times New Roman"/>
            </a:endParaRPr>
          </a:p>
          <a:p>
            <a:pPr marL="698500" marR="7620" lvl="1" indent="-228600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devices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may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application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tailored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protocols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MQTT-SN.</a:t>
            </a:r>
            <a:endParaRPr sz="2400">
              <a:latin typeface="Times New Roman"/>
              <a:cs typeface="Times New Roman"/>
            </a:endParaRPr>
          </a:p>
          <a:p>
            <a:pPr marL="698500" marR="8255" lvl="1" indent="-228600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Gateways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ability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deploy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IP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connectivity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cloud.</a:t>
            </a:r>
            <a:endParaRPr sz="2400">
              <a:latin typeface="Times New Roman"/>
              <a:cs typeface="Times New Roman"/>
            </a:endParaRPr>
          </a:p>
          <a:p>
            <a:pPr marL="698500" marR="6350" lvl="1" indent="-228600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Leverage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capabilities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TLS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MQTT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gateway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backend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3830" cy="32804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latin typeface="Times New Roman"/>
                <a:cs typeface="Times New Roman"/>
              </a:rPr>
              <a:t>Network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integration: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Examining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integration 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connected cars,</a:t>
            </a:r>
            <a:endParaRPr sz="28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communicate </a:t>
            </a:r>
            <a:r>
              <a:rPr sz="2400" dirty="0">
                <a:latin typeface="Times New Roman"/>
                <a:cs typeface="Times New Roman"/>
              </a:rPr>
              <a:t>using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DSRC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protocol.</a:t>
            </a:r>
            <a:endParaRPr sz="24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  <a:tab pos="2040889" algn="l"/>
                <a:tab pos="2569845" algn="l"/>
                <a:tab pos="3655060" algn="l"/>
                <a:tab pos="4472305" algn="l"/>
                <a:tab pos="5001260" algn="l"/>
                <a:tab pos="6154420" algn="l"/>
                <a:tab pos="7697470" algn="l"/>
                <a:tab pos="8105775" algn="l"/>
                <a:tab pos="8634730" algn="l"/>
                <a:tab pos="9587230" algn="l"/>
                <a:tab pos="10835640" algn="l"/>
              </a:tabLst>
            </a:pPr>
            <a:r>
              <a:rPr sz="2400" spc="-5" dirty="0">
                <a:latin typeface="Times New Roman"/>
                <a:cs typeface="Times New Roman"/>
              </a:rPr>
              <a:t>Messages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re	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cured	using	the	i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here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	ca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abi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es</a:t>
            </a:r>
            <a:r>
              <a:rPr sz="2400" dirty="0">
                <a:latin typeface="Times New Roman"/>
                <a:cs typeface="Times New Roman"/>
              </a:rPr>
              <a:t>	of	the	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RC	pro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col,	which  include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ability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 origin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authentication.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74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  <a:tab pos="1256030" algn="l"/>
                <a:tab pos="2214880" algn="l"/>
                <a:tab pos="2771140" algn="l"/>
                <a:tab pos="3479800" algn="l"/>
                <a:tab pos="3915410" algn="l"/>
                <a:tab pos="4534535" algn="l"/>
                <a:tab pos="6230620" algn="l"/>
                <a:tab pos="7040245" algn="l"/>
                <a:tab pos="8187690" algn="l"/>
                <a:tab pos="8947150" algn="l"/>
                <a:tab pos="9367520" algn="l"/>
                <a:tab pos="9838690" algn="l"/>
                <a:tab pos="11341100" algn="l"/>
              </a:tabLst>
            </a:pP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o	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atter	the	ty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	IoT	de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ent,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e	syste</a:t>
            </a:r>
            <a:r>
              <a:rPr sz="2400" spc="-3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s	need	to	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e	con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igured	to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ts val="2740"/>
              </a:lnSpc>
            </a:pPr>
            <a:r>
              <a:rPr sz="2400" spc="-5" dirty="0">
                <a:latin typeface="Times New Roman"/>
                <a:cs typeface="Times New Roman"/>
              </a:rPr>
              <a:t>communicate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organization's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technology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infrastructure.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Engineers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 planning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integration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activities.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1925" cy="4119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Planning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updates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to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existing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network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infrastructures: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Lifecycle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activity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involves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integration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planning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needed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incorporate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services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existing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infrastructures.</a:t>
            </a:r>
            <a:endParaRPr sz="2800">
              <a:latin typeface="Times New Roman"/>
              <a:cs typeface="Times New Roman"/>
            </a:endParaRPr>
          </a:p>
          <a:p>
            <a:pPr marL="241300" marR="6985" indent="-228600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673735" algn="l"/>
                <a:tab pos="2172335" algn="l"/>
                <a:tab pos="3176270" algn="l"/>
                <a:tab pos="5083175" algn="l"/>
                <a:tab pos="5909310" algn="l"/>
                <a:tab pos="7112000" algn="l"/>
                <a:tab pos="7759700" algn="l"/>
                <a:tab pos="8308340" algn="l"/>
                <a:tab pos="9157335" algn="l"/>
                <a:tab pos="9884410" algn="l"/>
                <a:tab pos="10297160" algn="l"/>
                <a:tab pos="11043920" algn="l"/>
              </a:tabLst>
            </a:pP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si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ua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where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" dirty="0">
                <a:latin typeface="Times New Roman"/>
                <a:cs typeface="Times New Roman"/>
              </a:rPr>
              <a:t>ste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ocess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ac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upo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d</a:t>
            </a:r>
            <a:r>
              <a:rPr sz="2800" spc="-5" dirty="0">
                <a:latin typeface="Times New Roman"/>
                <a:cs typeface="Times New Roman"/>
              </a:rPr>
              <a:t>ata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near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real  time,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necessary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re-evaluate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-5" dirty="0">
                <a:latin typeface="Times New Roman"/>
                <a:cs typeface="Times New Roman"/>
              </a:rPr>
              <a:t> move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toward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centralized data</a:t>
            </a:r>
            <a:r>
              <a:rPr sz="2800" dirty="0">
                <a:latin typeface="Times New Roman"/>
                <a:cs typeface="Times New Roman"/>
              </a:rPr>
              <a:t> processing.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264920" algn="l"/>
                <a:tab pos="2752725" algn="l"/>
                <a:tab pos="3522345" algn="l"/>
                <a:tab pos="5337810" algn="l"/>
                <a:tab pos="5829935" algn="l"/>
                <a:tab pos="7110730" algn="l"/>
                <a:tab pos="7758430" algn="l"/>
                <a:tab pos="8643620" algn="l"/>
                <a:tab pos="9135745" algn="l"/>
                <a:tab pos="9984740" algn="l"/>
                <a:tab pos="10475595" algn="l"/>
                <a:tab pos="10848975" algn="l"/>
              </a:tabLst>
            </a:pPr>
            <a:r>
              <a:rPr sz="2800" spc="-5" dirty="0">
                <a:latin typeface="Times New Roman"/>
                <a:cs typeface="Times New Roman"/>
              </a:rPr>
              <a:t>Cisco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" dirty="0">
                <a:latin typeface="Times New Roman"/>
                <a:cs typeface="Times New Roman"/>
              </a:rPr>
              <a:t>st</a:t>
            </a:r>
            <a:r>
              <a:rPr sz="2800" spc="-20" dirty="0">
                <a:latin typeface="Times New Roman"/>
                <a:cs typeface="Times New Roman"/>
              </a:rPr>
              <a:t>em</a:t>
            </a:r>
            <a:r>
              <a:rPr sz="2800" spc="-5" dirty="0">
                <a:latin typeface="Times New Roman"/>
                <a:cs typeface="Times New Roman"/>
              </a:rPr>
              <a:t>s,</a:t>
            </a:r>
            <a:r>
              <a:rPr sz="2800" dirty="0">
                <a:latin typeface="Times New Roman"/>
                <a:cs typeface="Times New Roman"/>
              </a:rPr>
              <a:t>	Fo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5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ting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d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need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5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  decentralized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model.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Fog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Computing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model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places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compute,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storage,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services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at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edge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0734" y="6426504"/>
            <a:ext cx="19704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1200" spc="-20" dirty="0">
                <a:solidFill>
                  <a:srgbClr val="888888"/>
                </a:solidFill>
                <a:latin typeface="Calibri"/>
                <a:cs typeface="Calibri"/>
              </a:rPr>
              <a:t>Dr. Ganesh Khekare, SCOPE, VIT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36" y="1309116"/>
            <a:ext cx="9351264" cy="4614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9545" cy="4119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Planning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provisioning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mechanisms: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Engineers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must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provision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information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required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gateways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operate</a:t>
            </a:r>
            <a:r>
              <a:rPr sz="2800" spc="-20" dirty="0">
                <a:latin typeface="Times New Roman"/>
                <a:cs typeface="Times New Roman"/>
              </a:rPr>
              <a:t> properly.</a:t>
            </a:r>
            <a:endParaRPr sz="2800">
              <a:latin typeface="Times New Roman"/>
              <a:cs typeface="Times New Roman"/>
            </a:endParaRPr>
          </a:p>
          <a:p>
            <a:pPr marL="241300" marR="14604" indent="-228600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1367155" algn="l"/>
                <a:tab pos="2098675" algn="l"/>
                <a:tab pos="2771140" algn="l"/>
                <a:tab pos="5179060" algn="l"/>
                <a:tab pos="6701790" algn="l"/>
                <a:tab pos="7550784" algn="l"/>
                <a:tab pos="8044815" algn="l"/>
                <a:tab pos="9733280" algn="l"/>
                <a:tab pos="11064240" algn="l"/>
              </a:tabLst>
            </a:pPr>
            <a:r>
              <a:rPr sz="2800" spc="-5" dirty="0">
                <a:latin typeface="Times New Roman"/>
                <a:cs typeface="Times New Roman"/>
              </a:rPr>
              <a:t>WSNs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com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ication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5" dirty="0">
                <a:latin typeface="Times New Roman"/>
                <a:cs typeface="Times New Roman"/>
              </a:rPr>
              <a:t>u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Bluetoot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ZigBe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and  </a:t>
            </a:r>
            <a:r>
              <a:rPr sz="2800" spc="-50" dirty="0">
                <a:latin typeface="Times New Roman"/>
                <a:cs typeface="Times New Roman"/>
              </a:rPr>
              <a:t>ZWave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 not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provisioning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IP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address.</a:t>
            </a:r>
            <a:endParaRPr sz="2800">
              <a:latin typeface="Times New Roman"/>
              <a:cs typeface="Times New Roman"/>
            </a:endParaRPr>
          </a:p>
          <a:p>
            <a:pPr marL="241300" marR="12065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2493645" algn="l"/>
                <a:tab pos="4043679" algn="l"/>
                <a:tab pos="4584700" algn="l"/>
                <a:tab pos="6192520" algn="l"/>
                <a:tab pos="7523480" algn="l"/>
                <a:tab pos="8421370" algn="l"/>
                <a:tab pos="9361805" algn="l"/>
                <a:tab pos="10988040" algn="l"/>
              </a:tabLst>
            </a:pP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5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gan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z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choosi</a:t>
            </a:r>
            <a:r>
              <a:rPr sz="2800" spc="5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dev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spc="10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5" dirty="0">
                <a:latin typeface="Times New Roman"/>
                <a:cs typeface="Times New Roman"/>
              </a:rPr>
              <a:t>6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ses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face  additional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engineering</a:t>
            </a:r>
            <a:r>
              <a:rPr sz="2800" dirty="0">
                <a:latin typeface="Times New Roman"/>
                <a:cs typeface="Times New Roman"/>
              </a:rPr>
              <a:t> tasks.</a:t>
            </a:r>
            <a:endParaRPr sz="2800">
              <a:latin typeface="Times New Roman"/>
              <a:cs typeface="Times New Roman"/>
            </a:endParaRPr>
          </a:p>
          <a:p>
            <a:pPr marL="241300" marR="15240" indent="-228600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  <a:tab pos="2386965" algn="l"/>
                <a:tab pos="3235960" algn="l"/>
                <a:tab pos="3967479" algn="l"/>
                <a:tab pos="4737100" algn="l"/>
                <a:tab pos="5311775" algn="l"/>
                <a:tab pos="5984240" algn="l"/>
                <a:tab pos="7329805" algn="l"/>
                <a:tab pos="8552180" algn="l"/>
                <a:tab pos="9480550" algn="l"/>
                <a:tab pos="10626725" algn="l"/>
              </a:tabLst>
            </a:pP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-5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gan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z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q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ired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ain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me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" dirty="0">
                <a:latin typeface="Times New Roman"/>
                <a:cs typeface="Times New Roman"/>
              </a:rPr>
              <a:t>stem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5" dirty="0">
                <a:latin typeface="Times New Roman"/>
                <a:cs typeface="Times New Roman"/>
              </a:rPr>
              <a:t>D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)  </a:t>
            </a:r>
            <a:r>
              <a:rPr sz="2800" dirty="0">
                <a:latin typeface="Times New Roman"/>
                <a:cs typeface="Times New Roman"/>
              </a:rPr>
              <a:t>integration.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03"/>
            <a:ext cx="11591925" cy="48177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b="1" spc="-5" dirty="0">
                <a:latin typeface="Times New Roman"/>
                <a:cs typeface="Times New Roman"/>
              </a:rPr>
              <a:t>Integrating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with</a:t>
            </a:r>
            <a:r>
              <a:rPr sz="2800" b="1" spc="4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systems:</a:t>
            </a:r>
            <a:endParaRPr sz="280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269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  <a:tab pos="893444" algn="l"/>
                <a:tab pos="2162810" algn="l"/>
                <a:tab pos="2860675" algn="l"/>
                <a:tab pos="3578860" algn="l"/>
                <a:tab pos="4394200" algn="l"/>
                <a:tab pos="4815205" algn="l"/>
                <a:tab pos="5295265" algn="l"/>
                <a:tab pos="6860540" algn="l"/>
                <a:tab pos="7637780" algn="l"/>
                <a:tab pos="8907145" algn="l"/>
                <a:tab pos="10452735" algn="l"/>
              </a:tabLst>
            </a:pP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sy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spc="-25" dirty="0">
                <a:latin typeface="Times New Roman"/>
                <a:cs typeface="Times New Roman"/>
              </a:rPr>
              <a:t>em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will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need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eg</a:t>
            </a:r>
            <a:r>
              <a:rPr sz="2800" spc="-15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existi</a:t>
            </a:r>
            <a:r>
              <a:rPr sz="2800" spc="-2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enterprise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ity  systems.</a:t>
            </a:r>
            <a:endParaRPr sz="280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26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Interfaces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these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would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been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created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during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development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69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  <a:tab pos="1798320" algn="l"/>
                <a:tab pos="2252980" algn="l"/>
                <a:tab pos="3810635" algn="l"/>
                <a:tab pos="5092700" algn="l"/>
                <a:tab pos="6374130" algn="l"/>
                <a:tab pos="7065009" algn="l"/>
                <a:tab pos="7557134" algn="l"/>
                <a:tab pos="8223250" algn="l"/>
                <a:tab pos="10058400" algn="l"/>
                <a:tab pos="1076833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ples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enterprise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ity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sy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te</a:t>
            </a:r>
            <a:r>
              <a:rPr sz="2800" spc="-3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oT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depl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spc="-3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will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li</a:t>
            </a:r>
            <a:r>
              <a:rPr sz="2800" dirty="0">
                <a:latin typeface="Times New Roman"/>
                <a:cs typeface="Times New Roman"/>
              </a:rPr>
              <a:t>k</a:t>
            </a:r>
            <a:r>
              <a:rPr sz="2800" spc="-5" dirty="0">
                <a:latin typeface="Times New Roman"/>
                <a:cs typeface="Times New Roman"/>
              </a:rPr>
              <a:t>ely  integrate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with,</a:t>
            </a:r>
            <a:endParaRPr sz="28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805"/>
              </a:lnSpc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Directory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800"/>
              </a:lnSpc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Identity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management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(IAM)</a:t>
            </a:r>
            <a:r>
              <a:rPr sz="2400" spc="-5" dirty="0">
                <a:latin typeface="Times New Roman"/>
                <a:cs typeface="Times New Roman"/>
              </a:rPr>
              <a:t> systems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810"/>
              </a:lnSpc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Security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event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management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(SIEM) systems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845"/>
              </a:lnSpc>
              <a:buFont typeface="Arial MT"/>
              <a:buChar char="•"/>
              <a:tabLst>
                <a:tab pos="698500" algn="l"/>
              </a:tabLst>
            </a:pPr>
            <a:r>
              <a:rPr sz="2400" spc="-15" dirty="0">
                <a:latin typeface="Times New Roman"/>
                <a:cs typeface="Times New Roman"/>
              </a:rPr>
              <a:t>Wireless </a:t>
            </a:r>
            <a:r>
              <a:rPr sz="2400" spc="-5" dirty="0">
                <a:latin typeface="Times New Roman"/>
                <a:cs typeface="Times New Roman"/>
              </a:rPr>
              <a:t>access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b="1" spc="-5" dirty="0">
                <a:latin typeface="Times New Roman"/>
                <a:cs typeface="Times New Roman"/>
              </a:rPr>
              <a:t>IoT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buses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7005" cy="45040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System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verification</a:t>
            </a:r>
            <a:r>
              <a:rPr sz="2800" b="1" dirty="0">
                <a:latin typeface="Times New Roman"/>
                <a:cs typeface="Times New Roman"/>
              </a:rPr>
              <a:t> and validation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(V&amp;V):</a:t>
            </a:r>
            <a:endParaRPr sz="2800">
              <a:latin typeface="Times New Roman"/>
              <a:cs typeface="Times New Roman"/>
            </a:endParaRPr>
          </a:p>
          <a:p>
            <a:pPr marL="241300" marR="9525" indent="-228600" algn="just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testing will occur </a:t>
            </a:r>
            <a:r>
              <a:rPr sz="2800" dirty="0">
                <a:latin typeface="Times New Roman"/>
                <a:cs typeface="Times New Roman"/>
              </a:rPr>
              <a:t>throughout </a:t>
            </a:r>
            <a:r>
              <a:rPr sz="2800" spc="-1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development lifecycle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well </a:t>
            </a:r>
            <a:r>
              <a:rPr sz="280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implementation/integration,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deployment,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operations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ones.</a:t>
            </a:r>
            <a:endParaRPr sz="2800">
              <a:latin typeface="Times New Roman"/>
              <a:cs typeface="Times New Roman"/>
            </a:endParaRPr>
          </a:p>
          <a:p>
            <a:pPr marL="241300" marR="12065" indent="-228600" algn="just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5" dirty="0">
                <a:latin typeface="Times New Roman"/>
                <a:cs typeface="Times New Roman"/>
              </a:rPr>
              <a:t>Verification </a:t>
            </a:r>
            <a:r>
              <a:rPr sz="2800" spc="-5" dirty="0">
                <a:latin typeface="Times New Roman"/>
                <a:cs typeface="Times New Roman"/>
              </a:rPr>
              <a:t>provides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assurances that </a:t>
            </a:r>
            <a:r>
              <a:rPr sz="2800" dirty="0">
                <a:latin typeface="Times New Roman"/>
                <a:cs typeface="Times New Roman"/>
              </a:rPr>
              <a:t>the system </a:t>
            </a:r>
            <a:r>
              <a:rPr sz="2800" spc="-5" dirty="0">
                <a:latin typeface="Times New Roman"/>
                <a:cs typeface="Times New Roman"/>
              </a:rPr>
              <a:t>operates according </a:t>
            </a:r>
            <a:r>
              <a:rPr sz="2800" spc="-1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set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requirements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appropriately</a:t>
            </a:r>
            <a:r>
              <a:rPr sz="2800" spc="-10" dirty="0">
                <a:latin typeface="Times New Roman"/>
                <a:cs typeface="Times New Roman"/>
              </a:rPr>
              <a:t> meet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stakeholder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needs.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30" dirty="0">
                <a:latin typeface="Times New Roman"/>
                <a:cs typeface="Times New Roman"/>
              </a:rPr>
              <a:t>Validation</a:t>
            </a:r>
            <a:r>
              <a:rPr sz="2800" b="1" spc="6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 the </a:t>
            </a:r>
            <a:r>
              <a:rPr sz="2800" spc="-5" dirty="0">
                <a:latin typeface="Times New Roman"/>
                <a:cs typeface="Times New Roman"/>
              </a:rPr>
              <a:t>assurance that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IoT system product, service, </a:t>
            </a:r>
            <a:r>
              <a:rPr sz="2800" dirty="0">
                <a:latin typeface="Times New Roman"/>
                <a:cs typeface="Times New Roman"/>
              </a:rPr>
              <a:t>or system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meets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needs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the customer and other identified stakeholders—in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IoT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241300" marR="9525" indent="-228600" algn="just">
              <a:lnSpc>
                <a:spcPts val="303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One </a:t>
            </a:r>
            <a:r>
              <a:rPr sz="2800" dirty="0">
                <a:latin typeface="Times New Roman"/>
                <a:cs typeface="Times New Roman"/>
              </a:rPr>
              <a:t>approach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verifying </a:t>
            </a:r>
            <a:r>
              <a:rPr sz="2800" spc="-5" dirty="0">
                <a:latin typeface="Times New Roman"/>
                <a:cs typeface="Times New Roman"/>
              </a:rPr>
              <a:t>functional security requirements is to create test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drivers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emulators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 exercise </a:t>
            </a:r>
            <a:r>
              <a:rPr sz="2800" spc="-15" dirty="0">
                <a:latin typeface="Times New Roman"/>
                <a:cs typeface="Times New Roman"/>
              </a:rPr>
              <a:t>functionality.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4465" cy="4246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training</a:t>
            </a:r>
            <a:r>
              <a:rPr sz="280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41300" marR="762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935990" algn="l"/>
                <a:tab pos="1792605" algn="l"/>
                <a:tab pos="3418840" algn="l"/>
                <a:tab pos="3839210" algn="l"/>
                <a:tab pos="4417060" algn="l"/>
                <a:tab pos="6023610" algn="l"/>
                <a:tab pos="7017384" algn="l"/>
                <a:tab pos="8423910" algn="l"/>
                <a:tab pos="8902700" algn="l"/>
                <a:tab pos="9758045" algn="l"/>
                <a:tab pos="11024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2015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OpenDNS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5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ter</a:t>
            </a:r>
            <a:r>
              <a:rPr sz="2800" spc="5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repo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ov</a:t>
            </a:r>
            <a:r>
              <a:rPr sz="2800" spc="-2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ded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early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gl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o  challenges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practitioners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face.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964565" algn="l"/>
                <a:tab pos="2283460" algn="l"/>
                <a:tab pos="2752725" algn="l"/>
                <a:tab pos="4051300" algn="l"/>
                <a:tab pos="5328920" algn="l"/>
                <a:tab pos="6645275" algn="l"/>
                <a:tab pos="7981950" algn="l"/>
                <a:tab pos="9123680" algn="l"/>
                <a:tab pos="9809480" algn="l"/>
                <a:tab pos="1041654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creati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o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securi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trai</a:t>
            </a:r>
            <a:r>
              <a:rPr sz="2800" spc="-2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req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ir</a:t>
            </a:r>
            <a:r>
              <a:rPr sz="2800" spc="-1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peri</a:t>
            </a:r>
            <a:r>
              <a:rPr sz="2800" spc="5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dic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review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ssible  creation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policies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</a:t>
            </a:r>
            <a:r>
              <a:rPr sz="2800" spc="-10" dirty="0">
                <a:latin typeface="Times New Roman"/>
                <a:cs typeface="Times New Roman"/>
              </a:rPr>
              <a:t> different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paradigms.</a:t>
            </a:r>
            <a:endParaRPr sz="2800">
              <a:latin typeface="Times New Roman"/>
              <a:cs typeface="Times New Roman"/>
            </a:endParaRPr>
          </a:p>
          <a:p>
            <a:pPr marL="241300" marR="9525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238885" algn="l"/>
                <a:tab pos="2494915" algn="l"/>
                <a:tab pos="3594100" algn="l"/>
                <a:tab pos="4079875" algn="l"/>
                <a:tab pos="4883785" algn="l"/>
                <a:tab pos="5330190" algn="l"/>
                <a:tab pos="6410960" algn="l"/>
                <a:tab pos="7724775" algn="l"/>
                <a:tab pos="8291830" algn="l"/>
                <a:tab pos="9076690" algn="l"/>
                <a:tab pos="104527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li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ies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ou</a:t>
            </a:r>
            <a:r>
              <a:rPr sz="2800" spc="-1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b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aterial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th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en</a:t>
            </a: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5" dirty="0">
                <a:latin typeface="Times New Roman"/>
                <a:cs typeface="Times New Roman"/>
              </a:rPr>
              <a:t>-u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curi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y  awareness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training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well</a:t>
            </a:r>
            <a:r>
              <a:rPr sz="2800" spc="-10" dirty="0">
                <a:latin typeface="Times New Roman"/>
                <a:cs typeface="Times New Roman"/>
              </a:rPr>
              <a:t> as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administration</a:t>
            </a:r>
            <a:r>
              <a:rPr sz="2800" dirty="0">
                <a:latin typeface="Times New Roman"/>
                <a:cs typeface="Times New Roman"/>
              </a:rPr>
              <a:t> training.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awareness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training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users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administration </a:t>
            </a:r>
            <a:r>
              <a:rPr sz="2800" dirty="0">
                <a:latin typeface="Times New Roman"/>
                <a:cs typeface="Times New Roman"/>
              </a:rPr>
              <a:t>training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734885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integration</a:t>
            </a:r>
            <a:r>
              <a:rPr spc="-40" dirty="0"/>
              <a:t> </a:t>
            </a:r>
            <a:r>
              <a:rPr dirty="0"/>
              <a:t>(Contd.,)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459210" cy="335152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5" dirty="0">
                <a:latin typeface="Times New Roman"/>
                <a:cs typeface="Times New Roman"/>
              </a:rPr>
              <a:t>Secure</a:t>
            </a:r>
            <a:r>
              <a:rPr sz="2800" b="1" spc="-5" dirty="0">
                <a:latin typeface="Times New Roman"/>
                <a:cs typeface="Times New Roman"/>
              </a:rPr>
              <a:t> configurations: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diverse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configured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secure </a:t>
            </a:r>
            <a:r>
              <a:rPr sz="2800" spc="-30" dirty="0">
                <a:latin typeface="Times New Roman"/>
                <a:cs typeface="Times New Roman"/>
              </a:rPr>
              <a:t>manner.</a:t>
            </a:r>
            <a:endParaRPr sz="2800">
              <a:latin typeface="Times New Roman"/>
              <a:cs typeface="Times New Roman"/>
            </a:endParaRPr>
          </a:p>
          <a:p>
            <a:pPr marL="241300" marR="304800" indent="-228600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5" dirty="0">
                <a:latin typeface="Times New Roman"/>
                <a:cs typeface="Times New Roman"/>
              </a:rPr>
              <a:t> configured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interface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securely.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configurations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(eg: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lock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ports)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Secure gateway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network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configurations.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4524754"/>
            <a:ext cx="6915911" cy="23332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508952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</a:t>
            </a:r>
            <a:r>
              <a:rPr spc="-5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maintenance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215643"/>
            <a:ext cx="11593830" cy="4883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secure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operations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maintenance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systems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supports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activities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such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managing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credentials,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roles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800" b="1" spc="-5" dirty="0">
                <a:latin typeface="Times New Roman"/>
                <a:cs typeface="Times New Roman"/>
              </a:rPr>
              <a:t>Managing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identities, </a:t>
            </a:r>
            <a:r>
              <a:rPr sz="2800" b="1" spc="-10" dirty="0">
                <a:latin typeface="Times New Roman"/>
                <a:cs typeface="Times New Roman"/>
              </a:rPr>
              <a:t>roles,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attributes: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addition to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naming,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establish clear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registration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processes.</a:t>
            </a:r>
            <a:endParaRPr sz="280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269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Registration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processes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should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broken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into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tiers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sensitivity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devices.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Identity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relationship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context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Attribute-based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Role-based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Consider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third-party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Manage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keys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certificates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669480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maintenance(Contd.,)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2560" cy="28390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Security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monitoring</a:t>
            </a:r>
            <a:r>
              <a:rPr sz="280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41300" marR="635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1827530" algn="l"/>
                <a:tab pos="2291080" algn="l"/>
                <a:tab pos="2964815" algn="l"/>
                <a:tab pos="4255135" algn="l"/>
                <a:tab pos="5566410" algn="l"/>
                <a:tab pos="6264275" algn="l"/>
                <a:tab pos="7258050" algn="l"/>
                <a:tab pos="7758430" algn="l"/>
                <a:tab pos="9537065" algn="l"/>
                <a:tab pos="11161395" algn="l"/>
              </a:tabLst>
            </a:pPr>
            <a:r>
              <a:rPr sz="2800" spc="-5" dirty="0">
                <a:latin typeface="Times New Roman"/>
                <a:cs typeface="Times New Roman"/>
              </a:rPr>
              <a:t>Oper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ti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sy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te</a:t>
            </a:r>
            <a:r>
              <a:rPr sz="2800" spc="-3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requ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res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th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asse</a:t>
            </a:r>
            <a:r>
              <a:rPr sz="2800" spc="-2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su</a:t>
            </a:r>
            <a:r>
              <a:rPr sz="2800" spc="-45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fici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ntly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for  abnormal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behavior 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mitigate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potential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 </a:t>
            </a:r>
            <a:r>
              <a:rPr sz="2800" dirty="0">
                <a:latin typeface="Times New Roman"/>
                <a:cs typeface="Times New Roman"/>
              </a:rPr>
              <a:t>incidents.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Using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traditional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SIEM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insufficient.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analytics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IoT-based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messaging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identifies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anomalies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 </a:t>
            </a:r>
            <a:r>
              <a:rPr sz="2800" spc="-25" dirty="0">
                <a:latin typeface="Times New Roman"/>
                <a:cs typeface="Times New Roman"/>
              </a:rPr>
              <a:t>quickly, </a:t>
            </a:r>
            <a:r>
              <a:rPr sz="2800" spc="-5" dirty="0">
                <a:latin typeface="Times New Roman"/>
                <a:cs typeface="Times New Roman"/>
              </a:rPr>
              <a:t>even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audit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logs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readily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available.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669417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maintenance(Contd.,)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1925" cy="43726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Penetration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testing</a:t>
            </a:r>
            <a:r>
              <a:rPr sz="280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Regularly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scheduled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penetration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test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activities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well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autonomous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tests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occur </a:t>
            </a:r>
            <a:r>
              <a:rPr sz="2800" dirty="0">
                <a:latin typeface="Times New Roman"/>
                <a:cs typeface="Times New Roman"/>
              </a:rPr>
              <a:t>throughout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cycle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operation.</a:t>
            </a:r>
            <a:endParaRPr sz="280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2004060" algn="l"/>
                <a:tab pos="2781935" algn="l"/>
                <a:tab pos="3418840" algn="l"/>
                <a:tab pos="4136390" algn="l"/>
                <a:tab pos="5405120" algn="l"/>
                <a:tab pos="5984240" algn="l"/>
                <a:tab pos="7253605" algn="l"/>
                <a:tab pos="8524875" algn="l"/>
                <a:tab pos="9814560" algn="l"/>
                <a:tab pos="10471150" algn="l"/>
              </a:tabLst>
            </a:pPr>
            <a:r>
              <a:rPr sz="2800" spc="-5" dirty="0">
                <a:latin typeface="Times New Roman"/>
                <a:cs typeface="Times New Roman"/>
              </a:rPr>
              <a:t>Penetration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te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ca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va</a:t>
            </a:r>
            <a:r>
              <a:rPr sz="2800" spc="-1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5" dirty="0">
                <a:latin typeface="Times New Roman"/>
                <a:cs typeface="Times New Roman"/>
              </a:rPr>
              <a:t>ate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existing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securi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1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5" dirty="0">
                <a:latin typeface="Times New Roman"/>
                <a:cs typeface="Times New Roman"/>
              </a:rPr>
              <a:t>enti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y  gaps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blue</a:t>
            </a:r>
            <a:r>
              <a:rPr sz="2800" spc="-10" dirty="0">
                <a:latin typeface="Times New Roman"/>
                <a:cs typeface="Times New Roman"/>
              </a:rPr>
              <a:t> teams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Evaluating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hardware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airwaves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penetration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tools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(eg: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BlueMaho, </a:t>
            </a:r>
            <a:r>
              <a:rPr sz="2800" dirty="0">
                <a:latin typeface="Times New Roman"/>
                <a:cs typeface="Times New Roman"/>
              </a:rPr>
              <a:t>Bluelog, </a:t>
            </a:r>
            <a:r>
              <a:rPr sz="2800" spc="-5" dirty="0">
                <a:latin typeface="Times New Roman"/>
                <a:cs typeface="Times New Roman"/>
              </a:rPr>
              <a:t>crackle, </a:t>
            </a:r>
            <a:r>
              <a:rPr sz="2800" spc="-10" dirty="0">
                <a:latin typeface="Times New Roman"/>
                <a:cs typeface="Times New Roman"/>
              </a:rPr>
              <a:t>SecBee,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etc.,)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669417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maintenance(Contd.,)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7005" cy="46304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Compliance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monitoring</a:t>
            </a:r>
            <a:r>
              <a:rPr sz="280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Center </a:t>
            </a:r>
            <a:r>
              <a:rPr sz="2800" dirty="0">
                <a:latin typeface="Times New Roman"/>
                <a:cs typeface="Times New Roman"/>
              </a:rPr>
              <a:t>for Internet </a:t>
            </a:r>
            <a:r>
              <a:rPr sz="2800" spc="-5" dirty="0">
                <a:latin typeface="Times New Roman"/>
                <a:cs typeface="Times New Roman"/>
              </a:rPr>
              <a:t>Security (CIS) released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addendum </a:t>
            </a:r>
            <a:r>
              <a:rPr sz="2800" spc="5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the 20 Critical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 details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coverage</a:t>
            </a:r>
            <a:r>
              <a:rPr sz="2800" dirty="0">
                <a:latin typeface="Times New Roman"/>
                <a:cs typeface="Times New Roman"/>
              </a:rPr>
              <a:t>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each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within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IoT.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Asset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and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configuration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management: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incorporating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new</a:t>
            </a:r>
            <a:r>
              <a:rPr sz="2800" spc="-5" dirty="0">
                <a:latin typeface="Times New Roman"/>
                <a:cs typeface="Times New Roman"/>
              </a:rPr>
              <a:t> 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analytics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techniques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</a:t>
            </a:r>
            <a:r>
              <a:rPr sz="2800" spc="-5" dirty="0">
                <a:latin typeface="Times New Roman"/>
                <a:cs typeface="Times New Roman"/>
              </a:rPr>
              <a:t> IoT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ecosystem,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organizations can </a:t>
            </a:r>
            <a:r>
              <a:rPr sz="2800" spc="-5" dirty="0">
                <a:latin typeface="Times New Roman"/>
                <a:cs typeface="Times New Roman"/>
              </a:rPr>
              <a:t>benefit from these new capabilities and apply them to the IoT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assets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themselves.</a:t>
            </a:r>
            <a:endParaRPr sz="2800">
              <a:latin typeface="Times New Roman"/>
              <a:cs typeface="Times New Roman"/>
            </a:endParaRPr>
          </a:p>
          <a:p>
            <a:pPr marL="241300" marR="8890" indent="-228600" algn="just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Automatically respond to failures and even autonomously swap out </a:t>
            </a:r>
            <a:r>
              <a:rPr sz="2800" dirty="0">
                <a:latin typeface="Times New Roman"/>
                <a:cs typeface="Times New Roman"/>
              </a:rPr>
              <a:t>broken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replacements.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669417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maintenance(Contd.,)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172741"/>
            <a:ext cx="11594465" cy="46304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Incident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management: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Managing </a:t>
            </a:r>
            <a:r>
              <a:rPr sz="2800" spc="-30" dirty="0">
                <a:latin typeface="Times New Roman"/>
                <a:cs typeface="Times New Roman"/>
              </a:rPr>
              <a:t>IoT-related </a:t>
            </a:r>
            <a:r>
              <a:rPr sz="2800" spc="-5" dirty="0">
                <a:latin typeface="Times New Roman"/>
                <a:cs typeface="Times New Roman"/>
              </a:rPr>
              <a:t>incidents requires that security </a:t>
            </a:r>
            <a:r>
              <a:rPr sz="2800" spc="-15" dirty="0">
                <a:latin typeface="Times New Roman"/>
                <a:cs typeface="Times New Roman"/>
              </a:rPr>
              <a:t>staff </a:t>
            </a:r>
            <a:r>
              <a:rPr sz="2800" spc="-5" dirty="0">
                <a:latin typeface="Times New Roman"/>
                <a:cs typeface="Times New Roman"/>
              </a:rPr>
              <a:t>have better insights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into </a:t>
            </a:r>
            <a:r>
              <a:rPr sz="2800" dirty="0">
                <a:latin typeface="Times New Roman"/>
                <a:cs typeface="Times New Roman"/>
              </a:rPr>
              <a:t>how the </a:t>
            </a:r>
            <a:r>
              <a:rPr sz="2800" spc="-5" dirty="0">
                <a:latin typeface="Times New Roman"/>
                <a:cs typeface="Times New Roman"/>
              </a:rPr>
              <a:t>compromise </a:t>
            </a:r>
            <a:r>
              <a:rPr sz="2800" dirty="0">
                <a:latin typeface="Times New Roman"/>
                <a:cs typeface="Times New Roman"/>
              </a:rPr>
              <a:t>or disruption </a:t>
            </a:r>
            <a:r>
              <a:rPr sz="2800" spc="-1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particular </a:t>
            </a:r>
            <a:r>
              <a:rPr sz="2800" spc="-5" dirty="0">
                <a:latin typeface="Times New Roman"/>
                <a:cs typeface="Times New Roman"/>
              </a:rPr>
              <a:t>IoT system impacts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Times New Roman"/>
                <a:cs typeface="Times New Roman"/>
              </a:rPr>
              <a:t>Forensics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opens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data-rich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opportunities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facilitate forensics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processes.</a:t>
            </a:r>
            <a:endParaRPr sz="28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Just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spc="-5" dirty="0">
                <a:latin typeface="Times New Roman"/>
                <a:cs typeface="Times New Roman"/>
              </a:rPr>
              <a:t> IoT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dirty="0">
                <a:latin typeface="Times New Roman"/>
                <a:cs typeface="Times New Roman"/>
              </a:rPr>
              <a:t> be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useful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enabling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benefiting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from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predictive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analytics, research </a:t>
            </a:r>
            <a:r>
              <a:rPr sz="2800" dirty="0">
                <a:latin typeface="Times New Roman"/>
                <a:cs typeface="Times New Roman"/>
              </a:rPr>
              <a:t>into </a:t>
            </a:r>
            <a:r>
              <a:rPr sz="2800" spc="-1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use of historical </a:t>
            </a:r>
            <a:r>
              <a:rPr sz="2800" dirty="0">
                <a:latin typeface="Times New Roman"/>
                <a:cs typeface="Times New Roman"/>
              </a:rPr>
              <a:t>IoT </a:t>
            </a:r>
            <a:r>
              <a:rPr sz="2800" spc="-5" dirty="0">
                <a:latin typeface="Times New Roman"/>
                <a:cs typeface="Times New Roman"/>
              </a:rPr>
              <a:t>data for establishing security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incident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root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causes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should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explored.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146050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Dispose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258316"/>
            <a:ext cx="11592560" cy="2753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715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958850" algn="l"/>
                <a:tab pos="2291080" algn="l"/>
                <a:tab pos="3264535" algn="l"/>
                <a:tab pos="3728085" algn="l"/>
                <a:tab pos="4051300" algn="l"/>
                <a:tab pos="5203825" algn="l"/>
                <a:tab pos="5862320" algn="l"/>
                <a:tab pos="6820534" algn="l"/>
                <a:tab pos="7264400" algn="l"/>
                <a:tab pos="7861934" algn="l"/>
                <a:tab pos="9013825" algn="l"/>
                <a:tab pos="9477375" algn="l"/>
                <a:tab pos="9800590" algn="l"/>
                <a:tab pos="10835640" algn="l"/>
                <a:tab pos="1129855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osal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ase</a:t>
            </a:r>
            <a:r>
              <a:rPr sz="2800" dirty="0">
                <a:latin typeface="Times New Roman"/>
                <a:cs typeface="Times New Roman"/>
              </a:rPr>
              <a:t>	o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" dirty="0">
                <a:latin typeface="Times New Roman"/>
                <a:cs typeface="Times New Roman"/>
              </a:rPr>
              <a:t>st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ca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t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5" dirty="0">
                <a:latin typeface="Times New Roman"/>
                <a:cs typeface="Times New Roman"/>
              </a:rPr>
              <a:t>stem</a:t>
            </a:r>
            <a:r>
              <a:rPr sz="2800" dirty="0">
                <a:latin typeface="Times New Roman"/>
                <a:cs typeface="Times New Roman"/>
              </a:rPr>
              <a:t>	a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wh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le</a:t>
            </a:r>
            <a:r>
              <a:rPr sz="2800" dirty="0">
                <a:latin typeface="Times New Roman"/>
                <a:cs typeface="Times New Roman"/>
              </a:rPr>
              <a:t>	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" dirty="0">
                <a:latin typeface="Times New Roman"/>
                <a:cs typeface="Times New Roman"/>
              </a:rPr>
              <a:t>to  </a:t>
            </a:r>
            <a:r>
              <a:rPr sz="2800" dirty="0">
                <a:latin typeface="Times New Roman"/>
                <a:cs typeface="Times New Roman"/>
              </a:rPr>
              <a:t>individual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IoT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generate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significant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data;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however,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minimal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typically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kept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 themselves.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spc="-15" dirty="0">
                <a:latin typeface="Times New Roman"/>
                <a:cs typeface="Times New Roman"/>
              </a:rPr>
              <a:t>Secure</a:t>
            </a:r>
            <a:r>
              <a:rPr sz="2800" b="1" spc="-5" dirty="0">
                <a:latin typeface="Times New Roman"/>
                <a:cs typeface="Times New Roman"/>
              </a:rPr>
              <a:t> device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disposal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zeroization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325" y="4015867"/>
            <a:ext cx="10721340" cy="16243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98500" marR="5080" indent="-2286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698500" algn="l"/>
                <a:tab pos="1901825" algn="l"/>
                <a:tab pos="2580640" algn="l"/>
                <a:tab pos="4018915" algn="l"/>
                <a:tab pos="4999355" algn="l"/>
                <a:tab pos="5694680" algn="l"/>
                <a:tab pos="6947534" algn="l"/>
                <a:tab pos="8251825" algn="l"/>
                <a:tab pos="8997315" algn="l"/>
              </a:tabLst>
            </a:pPr>
            <a:r>
              <a:rPr sz="2400" spc="-5" dirty="0">
                <a:latin typeface="Times New Roman"/>
                <a:cs typeface="Times New Roman"/>
              </a:rPr>
              <a:t>Dest</a:t>
            </a:r>
            <a:r>
              <a:rPr sz="2400" dirty="0">
                <a:latin typeface="Times New Roman"/>
                <a:cs typeface="Times New Roman"/>
              </a:rPr>
              <a:t>roy	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y	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lec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ronic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edia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at	co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tai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sens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ive	d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ta	(Crytographic  certificates,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etc.,),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personally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identifiable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Data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purging</a:t>
            </a:r>
            <a:r>
              <a:rPr sz="280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authentication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material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0" dirty="0">
                <a:latin typeface="Times New Roman"/>
                <a:cs typeface="Times New Roman"/>
              </a:rPr>
              <a:t> must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erased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rendered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irretrievable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1145" y="4015867"/>
            <a:ext cx="659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eys,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5" y="440512"/>
            <a:ext cx="306832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Dispose(Contd.,)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5" dirty="0"/>
              <a:t>Privacy</a:t>
            </a:r>
            <a:r>
              <a:rPr spc="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5" dirty="0"/>
              <a:t>Security</a:t>
            </a:r>
            <a:r>
              <a:rPr spc="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IoT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60577" y="6521050"/>
            <a:ext cx="18199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lang="it-IT" spc="-5" dirty="0"/>
              <a:t>Dr. Ganesh Khekare, SCOPE, VIT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68325" y="1224261"/>
            <a:ext cx="11593830" cy="316484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Inventory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control</a:t>
            </a:r>
            <a:endParaRPr sz="28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keep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track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 all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IoT</a:t>
            </a:r>
            <a:r>
              <a:rPr sz="2400" dirty="0">
                <a:latin typeface="Times New Roman"/>
                <a:cs typeface="Times New Roman"/>
              </a:rPr>
              <a:t> assets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your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inventory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through</a:t>
            </a:r>
            <a:r>
              <a:rPr sz="2400" dirty="0">
                <a:latin typeface="Times New Roman"/>
                <a:cs typeface="Times New Roman"/>
              </a:rPr>
              <a:t> 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automated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inventory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management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 and ensure that processes are </a:t>
            </a:r>
            <a:r>
              <a:rPr sz="2400" spc="-5" dirty="0">
                <a:latin typeface="Times New Roman"/>
                <a:cs typeface="Times New Roman"/>
              </a:rPr>
              <a:t>followed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remove these devices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inventory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disposal.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Data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archiving</a:t>
            </a:r>
            <a:r>
              <a:rPr sz="2800" b="1" spc="-5" dirty="0">
                <a:latin typeface="Times New Roman"/>
                <a:cs typeface="Times New Roman"/>
              </a:rPr>
              <a:t> and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records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amount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time </a:t>
            </a:r>
            <a:r>
              <a:rPr sz="2400" spc="-5" dirty="0">
                <a:latin typeface="Times New Roman"/>
                <a:cs typeface="Times New Roman"/>
              </a:rPr>
              <a:t>that data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kept depends heavily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the specific requirements 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-5" dirty="0">
                <a:latin typeface="Times New Roman"/>
                <a:cs typeface="Times New Roman"/>
              </a:rPr>
              <a:t> regulations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given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industry.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1934</Words>
  <Application>Microsoft Office PowerPoint</Application>
  <PresentationFormat>Widescreen</PresentationFormat>
  <Paragraphs>196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 MT</vt:lpstr>
      <vt:lpstr>Calibri</vt:lpstr>
      <vt:lpstr>Times New Roman</vt:lpstr>
      <vt:lpstr>Office Theme</vt:lpstr>
      <vt:lpstr>IoT Security Lifecycle</vt:lpstr>
      <vt:lpstr>The IoT Security Lifecycle</vt:lpstr>
      <vt:lpstr>PowerPoint Presentation</vt:lpstr>
      <vt:lpstr>Implementation and integration</vt:lpstr>
      <vt:lpstr>Implementation and integration (Contd.,)</vt:lpstr>
      <vt:lpstr>Implementation and integration (Contd.,)</vt:lpstr>
      <vt:lpstr>Implementation and integration (Contd.,)</vt:lpstr>
      <vt:lpstr>Implementation and integration (Contd.,)</vt:lpstr>
      <vt:lpstr>Implementation and integration (Contd.,)</vt:lpstr>
      <vt:lpstr>PowerPoint Presentation</vt:lpstr>
      <vt:lpstr>Implementation and integration (Contd.,)</vt:lpstr>
      <vt:lpstr>Implementation and integration (Contd.,)</vt:lpstr>
      <vt:lpstr>Implementation and integration (Contd.,)</vt:lpstr>
      <vt:lpstr>Implementation and integration (Contd.,)</vt:lpstr>
      <vt:lpstr>Implementation and integration (Contd.,)</vt:lpstr>
      <vt:lpstr>Operations and maintenance</vt:lpstr>
      <vt:lpstr>Operations and maintenance(Contd.,)</vt:lpstr>
      <vt:lpstr>Operations and maintenance(Contd.,)</vt:lpstr>
      <vt:lpstr>Operations and maintenance(Contd.,)</vt:lpstr>
      <vt:lpstr>Operations and maintenance(Contd.,)</vt:lpstr>
      <vt:lpstr>Dispose</vt:lpstr>
      <vt:lpstr>Dispose(Contd.,)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&amp; JVM</dc:title>
  <dc:creator>Guna</dc:creator>
  <cp:lastModifiedBy>Dr. Ganesh Khekare</cp:lastModifiedBy>
  <cp:revision>4</cp:revision>
  <dcterms:created xsi:type="dcterms:W3CDTF">2024-08-22T05:16:36Z</dcterms:created>
  <dcterms:modified xsi:type="dcterms:W3CDTF">2025-07-16T01:39:28Z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2024-08-22T00:00:00Z</vt:filetime>
  </property>
</Properties>
</file>