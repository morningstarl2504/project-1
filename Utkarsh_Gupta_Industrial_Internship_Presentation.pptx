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1" r:id="rId2"/>
    <p:sldId id="342" r:id="rId3"/>
    <p:sldId id="343" r:id="rId4"/>
    <p:sldId id="344" r:id="rId5"/>
    <p:sldId id="345" r:id="rId6"/>
    <p:sldId id="346" r:id="rId7"/>
    <p:sldId id="347" r:id="rId8"/>
    <p:sldId id="348" r:id="rId9"/>
    <p:sldId id="350" r:id="rId10"/>
    <p:sldId id="35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AB0B750-3EBC-44FE-84CA-7BE78A8D1DE9}">
          <p14:sldIdLst>
            <p14:sldId id="341"/>
            <p14:sldId id="342"/>
            <p14:sldId id="343"/>
            <p14:sldId id="344"/>
          </p14:sldIdLst>
        </p14:section>
        <p14:section name="Untitled Section" id="{D4D3703C-B91B-48AC-AE27-2D5C30BF3F2A}">
          <p14:sldIdLst>
            <p14:sldId id="345"/>
            <p14:sldId id="346"/>
            <p14:sldId id="347"/>
            <p14:sldId id="348"/>
            <p14:sldId id="350"/>
            <p14:sldId id="35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5" d="100"/>
          <a:sy n="105" d="100"/>
        </p:scale>
        <p:origin x="18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57831-676F-1031-4CC6-30AF30B118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82EED2-2404-58AC-D036-0223D09CA9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F3248B-8595-FF04-4ACF-1F5BA4809D78}"/>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5" name="Footer Placeholder 4">
            <a:extLst>
              <a:ext uri="{FF2B5EF4-FFF2-40B4-BE49-F238E27FC236}">
                <a16:creationId xmlns:a16="http://schemas.microsoft.com/office/drawing/2014/main" id="{37D70336-C884-FDCF-9238-7F038CC09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789067-0BC6-00C0-C7D5-6C2DAB4C44CC}"/>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2504546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1EF01-7517-1FE4-6B9C-66A35395C6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E70612-9848-3780-59F3-F44581C5C0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3B9DFA-F968-13D7-31B9-70C6FFDE921A}"/>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5" name="Footer Placeholder 4">
            <a:extLst>
              <a:ext uri="{FF2B5EF4-FFF2-40B4-BE49-F238E27FC236}">
                <a16:creationId xmlns:a16="http://schemas.microsoft.com/office/drawing/2014/main" id="{38D1DF2F-1725-B1A4-6620-E527A3210F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C7F559-292F-635C-82F9-5F13EB63B6EC}"/>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410862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18B9F-C81D-0171-CD97-D6738938A8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1CBE7B-2796-F023-FFF3-9FBBF3056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0295D6-CB8A-F1B1-D395-37E05765ED79}"/>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5" name="Footer Placeholder 4">
            <a:extLst>
              <a:ext uri="{FF2B5EF4-FFF2-40B4-BE49-F238E27FC236}">
                <a16:creationId xmlns:a16="http://schemas.microsoft.com/office/drawing/2014/main" id="{7F4BD953-2AE7-0BF7-51C2-D4688FC714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098A9F-4243-ADB8-3ADF-4850437BF065}"/>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05645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3DF1A-3301-D5EE-B325-12E40EC75D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C58512-9F2F-F76E-BAA5-B8AEAF840D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979E6F-7677-7D8E-6A97-6DE736447E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6144F3-2ECB-D4B2-E23C-89738C02EF6B}"/>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6" name="Footer Placeholder 5">
            <a:extLst>
              <a:ext uri="{FF2B5EF4-FFF2-40B4-BE49-F238E27FC236}">
                <a16:creationId xmlns:a16="http://schemas.microsoft.com/office/drawing/2014/main" id="{31081157-1525-CADB-B0CA-48DFA0256A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1BB30A-937C-E84F-E34C-880E69E47A30}"/>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270030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CE6DF-B827-C360-BF3B-236DCBBA64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1C5DC3-043E-F2EA-D72E-55C369A14D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DD6A4E-9037-CC90-87B2-BD73D6DC9C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41C5B8-C989-A54D-EE03-D62774F07A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7F2A2D-D4FC-2E61-AE60-EDB74F331C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6F96AF-589B-FDE3-CE3A-FD795946A301}"/>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8" name="Footer Placeholder 7">
            <a:extLst>
              <a:ext uri="{FF2B5EF4-FFF2-40B4-BE49-F238E27FC236}">
                <a16:creationId xmlns:a16="http://schemas.microsoft.com/office/drawing/2014/main" id="{DA9AD1C4-8381-8148-CF9E-0BC2D3F031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DFBEFEF-90E1-B088-8849-44F166FDF4EA}"/>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045355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7C89-C047-F71B-5516-7E53361DCF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6E1AFD-1E67-FF09-A285-701901F1B55D}"/>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4" name="Footer Placeholder 3">
            <a:extLst>
              <a:ext uri="{FF2B5EF4-FFF2-40B4-BE49-F238E27FC236}">
                <a16:creationId xmlns:a16="http://schemas.microsoft.com/office/drawing/2014/main" id="{169E247B-BA08-DDFD-B5EE-3AEBE795BE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4372B7-A327-356D-0F3E-F280BE7E0CD6}"/>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428602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4E0B8C-8DB1-6AAA-A331-EB3C7358B83E}"/>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3" name="Footer Placeholder 2">
            <a:extLst>
              <a:ext uri="{FF2B5EF4-FFF2-40B4-BE49-F238E27FC236}">
                <a16:creationId xmlns:a16="http://schemas.microsoft.com/office/drawing/2014/main" id="{90B7F468-805F-8CB6-8E5A-7B1F521FC0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1ED809B-26AB-3B41-E72B-028611DC357C}"/>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3195414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4D0F-BD9E-B626-0803-5EFDBDC485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1AED7B7-0C08-81EB-B87C-295F27C1C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D58A9C-57EC-8A98-D043-048C6FC561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72D0E1-57C0-CE93-AF3F-347876740AEE}"/>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6" name="Footer Placeholder 5">
            <a:extLst>
              <a:ext uri="{FF2B5EF4-FFF2-40B4-BE49-F238E27FC236}">
                <a16:creationId xmlns:a16="http://schemas.microsoft.com/office/drawing/2014/main" id="{407A4E53-ED53-7DD2-99E6-651A24D23C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FC79BF-D8AF-25B9-1905-B10E573251A2}"/>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100079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E6E4-F279-EDC2-8543-AEF823C4C0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3EAAD3-5C1A-A122-FB3A-28CD54963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D66F95-C7FF-9A15-82FA-5939A53064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30BACB-E459-16B7-EFF7-50E4C54873C7}"/>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6" name="Footer Placeholder 5">
            <a:extLst>
              <a:ext uri="{FF2B5EF4-FFF2-40B4-BE49-F238E27FC236}">
                <a16:creationId xmlns:a16="http://schemas.microsoft.com/office/drawing/2014/main" id="{E2C8CC43-D8A1-8D87-8253-FB00F5334E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7E93CE-1A54-DC9F-73C9-15FE699C90F1}"/>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87449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FAAD-D36D-C220-7D53-70EA1A37B7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7EF6EC-1131-07B9-D319-66BC54299F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E0579D-E23A-97EC-052C-3A85D00439E7}"/>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5" name="Footer Placeholder 4">
            <a:extLst>
              <a:ext uri="{FF2B5EF4-FFF2-40B4-BE49-F238E27FC236}">
                <a16:creationId xmlns:a16="http://schemas.microsoft.com/office/drawing/2014/main" id="{20DCCB7F-EF53-3A83-D8B6-7160A8C7AC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B687BD-C0FC-A2F1-97D5-DB0A052A2A86}"/>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331022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2C0C96-84C9-F544-50C7-665CE74CB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E03D50-8985-59A4-164B-F3AF84D05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FAEF0B-D8CD-A336-6ADB-67F73F44C62F}"/>
              </a:ext>
            </a:extLst>
          </p:cNvPr>
          <p:cNvSpPr>
            <a:spLocks noGrp="1"/>
          </p:cNvSpPr>
          <p:nvPr>
            <p:ph type="dt" sz="half" idx="10"/>
          </p:nvPr>
        </p:nvSpPr>
        <p:spPr/>
        <p:txBody>
          <a:bodyPr/>
          <a:lstStyle/>
          <a:p>
            <a:fld id="{7147BF0B-9D81-444C-BE11-73E88CF9210E}" type="datetimeFigureOut">
              <a:rPr lang="en-IN" smtClean="0"/>
              <a:t>30-10-2025</a:t>
            </a:fld>
            <a:endParaRPr lang="en-IN"/>
          </a:p>
        </p:txBody>
      </p:sp>
      <p:sp>
        <p:nvSpPr>
          <p:cNvPr id="5" name="Footer Placeholder 4">
            <a:extLst>
              <a:ext uri="{FF2B5EF4-FFF2-40B4-BE49-F238E27FC236}">
                <a16:creationId xmlns:a16="http://schemas.microsoft.com/office/drawing/2014/main" id="{8B7FB148-9B1B-8538-3E6A-FD42DBD44D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E7D101-6A8F-4755-1E45-3C0A79E17EE6}"/>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061885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36FFF-7ED0-DEB3-FD9F-C2654A3A4F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034566-2A65-5513-0404-5DC85295FB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132A3-D2BD-6698-F557-700B4C9434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47BF0B-9D81-444C-BE11-73E88CF9210E}" type="datetimeFigureOut">
              <a:rPr lang="en-IN" smtClean="0"/>
              <a:t>30-10-2025</a:t>
            </a:fld>
            <a:endParaRPr lang="en-IN"/>
          </a:p>
        </p:txBody>
      </p:sp>
      <p:sp>
        <p:nvSpPr>
          <p:cNvPr id="5" name="Footer Placeholder 4">
            <a:extLst>
              <a:ext uri="{FF2B5EF4-FFF2-40B4-BE49-F238E27FC236}">
                <a16:creationId xmlns:a16="http://schemas.microsoft.com/office/drawing/2014/main" id="{D512A656-6E68-934E-51E5-1F3DBC5E2C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7E779CE-E275-1230-F763-240B9E57A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E8CBD4-AA4E-49FF-9C6B-17B5A3B1969C}" type="slidenum">
              <a:rPr lang="en-IN" smtClean="0"/>
              <a:t>‹#›</a:t>
            </a:fld>
            <a:endParaRPr lang="en-IN"/>
          </a:p>
        </p:txBody>
      </p:sp>
    </p:spTree>
    <p:extLst>
      <p:ext uri="{BB962C8B-B14F-4D97-AF65-F5344CB8AC3E}">
        <p14:creationId xmlns:p14="http://schemas.microsoft.com/office/powerpoint/2010/main" val="1676920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paytm.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84811" y="1556627"/>
            <a:ext cx="9727139" cy="5164848"/>
          </a:xfrm>
        </p:spPr>
        <p:txBody>
          <a:bodyPr>
            <a:normAutofit fontScale="77500" lnSpcReduction="20000"/>
          </a:bodyPr>
          <a:lstStyle/>
          <a:p>
            <a:r>
              <a:rPr lang="en-US" sz="2200" b="1" dirty="0">
                <a:effectLst/>
                <a:latin typeface="Book Antiqua" panose="02040602050305030304" pitchFamily="18" charset="0"/>
                <a:ea typeface="Calibri" panose="020F0502020204030204" pitchFamily="34" charset="0"/>
                <a:cs typeface="Times New Roman" panose="02020603050405020304" pitchFamily="18" charset="0"/>
              </a:rPr>
              <a:t>BCSE399J (Summer Industrial Internship)/ </a:t>
            </a:r>
          </a:p>
          <a:p>
            <a:r>
              <a:rPr lang="en-US" sz="2200" b="1" dirty="0">
                <a:effectLst/>
                <a:latin typeface="Book Antiqua" panose="02040602050305030304" pitchFamily="18" charset="0"/>
                <a:ea typeface="Calibri" panose="020F0502020204030204" pitchFamily="34" charset="0"/>
                <a:cs typeface="Times New Roman" panose="02020603050405020304" pitchFamily="18" charset="0"/>
              </a:rPr>
              <a:t>CBS1902/CSE1902/ CSI3903 (Industrial Internship)</a:t>
            </a:r>
          </a:p>
          <a:p>
            <a:r>
              <a:rPr lang="en-US" sz="2200" b="1" dirty="0">
                <a:solidFill>
                  <a:schemeClr val="tx1"/>
                </a:solidFill>
                <a:latin typeface="Book Antiqua" panose="02040602050305030304" pitchFamily="18" charset="0"/>
                <a:cs typeface="Times New Roman" panose="02020603050405020304" pitchFamily="18" charset="0"/>
              </a:rPr>
              <a:t>FALL  SEMESTER 2025-26</a:t>
            </a:r>
            <a:endParaRPr lang="en-IN" sz="2200" b="1" dirty="0">
              <a:solidFill>
                <a:schemeClr val="tx1"/>
              </a:solidFill>
              <a:latin typeface="Book Antiqua" panose="02040602050305030304" pitchFamily="18" charset="0"/>
              <a:cs typeface="Times New Roman" panose="02020603050405020304" pitchFamily="18" charset="0"/>
            </a:endParaRPr>
          </a:p>
          <a:p>
            <a:endParaRPr lang="en-IN" sz="1400" b="1" dirty="0">
              <a:solidFill>
                <a:schemeClr val="tx1"/>
              </a:solidFill>
              <a:latin typeface="Book Antiqua" panose="02040602050305030304" pitchFamily="18" charset="0"/>
              <a:cs typeface="Times New Roman" panose="02020603050405020304" pitchFamily="18" charset="0"/>
            </a:endParaRPr>
          </a:p>
          <a:p>
            <a:pPr algn="l"/>
            <a:r>
              <a:rPr lang="en-IN" sz="2600" b="1" dirty="0">
                <a:solidFill>
                  <a:schemeClr val="tx1"/>
                </a:solidFill>
                <a:latin typeface="Book Antiqua" panose="02040602050305030304" pitchFamily="18" charset="0"/>
                <a:cs typeface="Times New Roman" panose="02020603050405020304" pitchFamily="18" charset="0"/>
              </a:rPr>
              <a:t>Type of Intern: Industry offline</a:t>
            </a:r>
          </a:p>
          <a:p>
            <a:pPr algn="l"/>
            <a:r>
              <a:rPr lang="en-IN" sz="2600" b="1" dirty="0">
                <a:solidFill>
                  <a:schemeClr val="tx1"/>
                </a:solidFill>
                <a:latin typeface="Book Antiqua" panose="02040602050305030304" pitchFamily="18" charset="0"/>
                <a:cs typeface="Times New Roman" panose="02020603050405020304" pitchFamily="18" charset="0"/>
              </a:rPr>
              <a:t>Title of Intern: Backend </a:t>
            </a:r>
            <a:r>
              <a:rPr lang="en-IN" sz="2600" b="1" dirty="0">
                <a:latin typeface="Book Antiqua" panose="02040602050305030304" pitchFamily="18" charset="0"/>
                <a:cs typeface="Times New Roman" panose="02020603050405020304" pitchFamily="18" charset="0"/>
              </a:rPr>
              <a:t>Intern</a:t>
            </a:r>
            <a:endParaRPr lang="en-IN" sz="2600" dirty="0">
              <a:solidFill>
                <a:schemeClr val="tx1"/>
              </a:solidFill>
              <a:latin typeface="Book Antiqua" panose="02040602050305030304" pitchFamily="18" charset="0"/>
              <a:cs typeface="Times New Roman" panose="02020603050405020304" pitchFamily="18" charset="0"/>
            </a:endParaRPr>
          </a:p>
          <a:p>
            <a:pPr algn="l"/>
            <a:r>
              <a:rPr lang="en-IN" sz="2600" i="1" dirty="0">
                <a:solidFill>
                  <a:schemeClr val="tx1"/>
                </a:solidFill>
                <a:latin typeface="Book Antiqua" panose="02040602050305030304" pitchFamily="18" charset="0"/>
                <a:cs typeface="Times New Roman" panose="02020603050405020304" pitchFamily="18" charset="0"/>
              </a:rPr>
              <a:t>Internship completed at : </a:t>
            </a:r>
          </a:p>
          <a:p>
            <a:pPr algn="l"/>
            <a:r>
              <a:rPr lang="en-US" dirty="0">
                <a:latin typeface="Book Antiqua" panose="02040602050305030304" pitchFamily="18" charset="0"/>
              </a:rPr>
              <a:t>H-10B, Sector-98, Noida-201304</a:t>
            </a:r>
          </a:p>
          <a:p>
            <a:pPr algn="l"/>
            <a:r>
              <a:rPr lang="en-IN" sz="2600" i="1" dirty="0">
                <a:solidFill>
                  <a:schemeClr val="tx1"/>
                </a:solidFill>
                <a:latin typeface="Book Antiqua" panose="02040602050305030304" pitchFamily="18" charset="0"/>
                <a:cs typeface="Times New Roman" panose="02020603050405020304" pitchFamily="18" charset="0"/>
                <a:hlinkClick r:id="rId2"/>
              </a:rPr>
              <a:t>https://paytm.com/</a:t>
            </a:r>
            <a:endParaRPr lang="en-IN" sz="2600" i="1" dirty="0">
              <a:solidFill>
                <a:schemeClr val="tx1"/>
              </a:solidFill>
              <a:latin typeface="Book Antiqua" panose="02040602050305030304" pitchFamily="18" charset="0"/>
              <a:cs typeface="Times New Roman" panose="02020603050405020304" pitchFamily="18" charset="0"/>
            </a:endParaRPr>
          </a:p>
          <a:p>
            <a:pPr algn="l"/>
            <a:r>
              <a:rPr lang="en-US" dirty="0">
                <a:latin typeface="Book Antiqua" panose="02040602050305030304" pitchFamily="18" charset="0"/>
              </a:rPr>
              <a:t>+91-120- 4770770</a:t>
            </a:r>
            <a:endParaRPr lang="en-IN" sz="2600" i="1" dirty="0">
              <a:solidFill>
                <a:schemeClr val="tx1"/>
              </a:solidFill>
              <a:latin typeface="Book Antiqua" panose="02040602050305030304" pitchFamily="18" charset="0"/>
              <a:cs typeface="Times New Roman" panose="02020603050405020304" pitchFamily="18" charset="0"/>
            </a:endParaRPr>
          </a:p>
          <a:p>
            <a:pPr algn="l"/>
            <a:r>
              <a:rPr lang="en-IN" sz="1900" b="1" dirty="0">
                <a:solidFill>
                  <a:schemeClr val="tx1"/>
                </a:solidFill>
                <a:latin typeface="Book Antiqua" panose="02040602050305030304" pitchFamily="18" charset="0"/>
                <a:cs typeface="Times New Roman" panose="02020603050405020304" pitchFamily="18" charset="0"/>
              </a:rPr>
              <a:t>Duration : 44 Days : From 26</a:t>
            </a:r>
            <a:r>
              <a:rPr lang="en-IN" sz="1900" b="1" baseline="30000" dirty="0">
                <a:solidFill>
                  <a:schemeClr val="tx1"/>
                </a:solidFill>
                <a:latin typeface="Book Antiqua" panose="02040602050305030304" pitchFamily="18" charset="0"/>
                <a:cs typeface="Times New Roman" panose="02020603050405020304" pitchFamily="18" charset="0"/>
              </a:rPr>
              <a:t>th</a:t>
            </a:r>
            <a:r>
              <a:rPr lang="en-IN" sz="1900" b="1" dirty="0">
                <a:solidFill>
                  <a:schemeClr val="tx1"/>
                </a:solidFill>
                <a:latin typeface="Book Antiqua" panose="02040602050305030304" pitchFamily="18" charset="0"/>
                <a:cs typeface="Times New Roman" panose="02020603050405020304" pitchFamily="18" charset="0"/>
              </a:rPr>
              <a:t> May to 8</a:t>
            </a:r>
            <a:r>
              <a:rPr lang="en-IN" sz="1900" b="1" baseline="30000" dirty="0">
                <a:solidFill>
                  <a:schemeClr val="tx1"/>
                </a:solidFill>
                <a:latin typeface="Book Antiqua" panose="02040602050305030304" pitchFamily="18" charset="0"/>
                <a:cs typeface="Times New Roman" panose="02020603050405020304" pitchFamily="18" charset="0"/>
              </a:rPr>
              <a:t>th</a:t>
            </a:r>
            <a:r>
              <a:rPr lang="en-IN" sz="1900" b="1" dirty="0">
                <a:solidFill>
                  <a:schemeClr val="tx1"/>
                </a:solidFill>
                <a:latin typeface="Book Antiqua" panose="02040602050305030304" pitchFamily="18" charset="0"/>
                <a:cs typeface="Times New Roman" panose="02020603050405020304" pitchFamily="18" charset="0"/>
              </a:rPr>
              <a:t> July, 2025</a:t>
            </a:r>
          </a:p>
          <a:p>
            <a:pPr algn="l"/>
            <a:r>
              <a:rPr lang="en-IN" sz="2200" dirty="0">
                <a:solidFill>
                  <a:schemeClr val="tx1"/>
                </a:solidFill>
                <a:latin typeface="Book Antiqua" panose="02040602050305030304" pitchFamily="18" charset="0"/>
                <a:cs typeface="Times New Roman" panose="02020603050405020304" pitchFamily="18" charset="0"/>
              </a:rPr>
              <a:t>Date of Presentation: 30</a:t>
            </a:r>
            <a:r>
              <a:rPr lang="en-IN" sz="2200" baseline="30000" dirty="0">
                <a:solidFill>
                  <a:schemeClr val="tx1"/>
                </a:solidFill>
                <a:latin typeface="Book Antiqua" panose="02040602050305030304" pitchFamily="18" charset="0"/>
                <a:cs typeface="Times New Roman" panose="02020603050405020304" pitchFamily="18" charset="0"/>
              </a:rPr>
              <a:t>th</a:t>
            </a:r>
            <a:r>
              <a:rPr lang="en-IN" sz="2200" dirty="0">
                <a:solidFill>
                  <a:schemeClr val="tx1"/>
                </a:solidFill>
                <a:latin typeface="Book Antiqua" panose="02040602050305030304" pitchFamily="18" charset="0"/>
                <a:cs typeface="Times New Roman" panose="02020603050405020304" pitchFamily="18" charset="0"/>
              </a:rPr>
              <a:t> October, 2025</a:t>
            </a:r>
          </a:p>
          <a:p>
            <a:endParaRPr lang="en-IN" sz="700" i="1" dirty="0">
              <a:solidFill>
                <a:schemeClr val="tx1"/>
              </a:solidFill>
              <a:latin typeface="Book Antiqua" panose="02040602050305030304" pitchFamily="18" charset="0"/>
              <a:cs typeface="Times New Roman" panose="02020603050405020304" pitchFamily="18" charset="0"/>
            </a:endParaRPr>
          </a:p>
          <a:p>
            <a:r>
              <a:rPr lang="en-IN" sz="2100" i="1" dirty="0">
                <a:solidFill>
                  <a:schemeClr val="tx1"/>
                </a:solidFill>
                <a:latin typeface="Book Antiqua" panose="02040602050305030304" pitchFamily="18" charset="0"/>
                <a:cs typeface="Times New Roman" panose="02020603050405020304" pitchFamily="18" charset="0"/>
              </a:rPr>
              <a:t>by </a:t>
            </a:r>
          </a:p>
          <a:p>
            <a:endParaRPr lang="en-IN" sz="900" b="1" dirty="0">
              <a:solidFill>
                <a:schemeClr val="tx1"/>
              </a:solidFill>
              <a:latin typeface="Book Antiqua" panose="02040602050305030304" pitchFamily="18" charset="0"/>
              <a:cs typeface="Times New Roman" panose="02020603050405020304" pitchFamily="18" charset="0"/>
            </a:endParaRPr>
          </a:p>
          <a:p>
            <a:r>
              <a:rPr lang="en-IN" sz="1400" b="1" dirty="0">
                <a:latin typeface="Book Antiqua" panose="02040602050305030304" pitchFamily="18" charset="0"/>
                <a:cs typeface="Times New Roman" panose="02020603050405020304" pitchFamily="18" charset="0"/>
              </a:rPr>
              <a:t>UTKARSH GUPTA</a:t>
            </a:r>
            <a:endParaRPr lang="en-IN" sz="1400" b="1" dirty="0">
              <a:solidFill>
                <a:schemeClr val="tx1"/>
              </a:solidFill>
              <a:latin typeface="Book Antiqua" panose="02040602050305030304" pitchFamily="18" charset="0"/>
              <a:cs typeface="Times New Roman" panose="02020603050405020304" pitchFamily="18" charset="0"/>
            </a:endParaRPr>
          </a:p>
          <a:p>
            <a:r>
              <a:rPr lang="en-IN" sz="1400" b="1" dirty="0">
                <a:latin typeface="Book Antiqua" panose="02040602050305030304" pitchFamily="18" charset="0"/>
                <a:cs typeface="Times New Roman" panose="02020603050405020304" pitchFamily="18" charset="0"/>
              </a:rPr>
              <a:t>22BCT0102</a:t>
            </a:r>
            <a:endParaRPr lang="en-IN" sz="1400" b="1" dirty="0">
              <a:solidFill>
                <a:schemeClr val="tx1"/>
              </a:solidFill>
              <a:latin typeface="Book Antiqua" panose="02040602050305030304" pitchFamily="18" charset="0"/>
              <a:cs typeface="Times New Roman" panose="02020603050405020304" pitchFamily="18" charset="0"/>
            </a:endParaRPr>
          </a:p>
          <a:p>
            <a:endParaRPr lang="en-IN" sz="1400" b="1" dirty="0">
              <a:solidFill>
                <a:schemeClr val="tx1"/>
              </a:solidFill>
              <a:latin typeface="Book Antiqua" panose="02040602050305030304" pitchFamily="18" charset="0"/>
              <a:cs typeface="Times New Roman" panose="02020603050405020304" pitchFamily="18" charset="0"/>
            </a:endParaRPr>
          </a:p>
          <a:p>
            <a:endParaRPr lang="en-IN" sz="1100" dirty="0">
              <a:solidFill>
                <a:schemeClr val="tx1"/>
              </a:solidFill>
              <a:latin typeface="Book Antiqua" panose="02040602050305030304" pitchFamily="18" charset="0"/>
              <a:cs typeface="Times New Roman" panose="02020603050405020304" pitchFamily="18" charset="0"/>
            </a:endParaRPr>
          </a:p>
          <a:p>
            <a:endParaRPr lang="en-IN" sz="900" dirty="0">
              <a:solidFill>
                <a:schemeClr val="tx1"/>
              </a:solidFill>
              <a:latin typeface="Book Antiqua" panose="02040602050305030304" pitchFamily="18" charset="0"/>
              <a:cs typeface="Times New Roman" panose="02020603050405020304" pitchFamily="18" charset="0"/>
            </a:endParaRPr>
          </a:p>
          <a:p>
            <a:endParaRPr lang="en-IN" sz="900" dirty="0">
              <a:solidFill>
                <a:schemeClr val="tx1"/>
              </a:solidFill>
              <a:latin typeface="Book Antiqua" panose="02040602050305030304" pitchFamily="18" charset="0"/>
              <a:cs typeface="Times New Roman" panose="02020603050405020304" pitchFamily="18" charset="0"/>
            </a:endParaRPr>
          </a:p>
          <a:p>
            <a:endParaRPr lang="en-IN" sz="700" dirty="0">
              <a:solidFill>
                <a:schemeClr val="tx1"/>
              </a:solidFill>
              <a:latin typeface="Book Antiqua" panose="02040602050305030304" pitchFamily="18" charset="0"/>
            </a:endParaRPr>
          </a:p>
        </p:txBody>
      </p:sp>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200" b="1" dirty="0">
                <a:solidFill>
                  <a:schemeClr val="bg1"/>
                </a:solidFill>
                <a:latin typeface="Book Antiqua" panose="02040602050305030304" pitchFamily="18" charset="0"/>
                <a:cs typeface="Times New Roman" panose="02020603050405020304" pitchFamily="18" charset="0"/>
              </a:rPr>
              <a:t>School of Computer Science and Engineering</a:t>
            </a:r>
          </a:p>
          <a:p>
            <a:pPr algn="l"/>
            <a:r>
              <a:rPr lang="en-IN" sz="3200" b="1" dirty="0">
                <a:solidFill>
                  <a:schemeClr val="bg1"/>
                </a:solidFill>
                <a:latin typeface="Book Antiqua" panose="02040602050305030304" pitchFamily="18" charset="0"/>
                <a:cs typeface="Times New Roman" panose="02020603050405020304" pitchFamily="18" charset="0"/>
              </a:rPr>
              <a:t>            Internship Review - Presentation</a:t>
            </a:r>
            <a:endParaRPr lang="en-US" sz="3600" b="1" dirty="0">
              <a:solidFill>
                <a:prstClr val="white"/>
              </a:solidFill>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1</a:t>
            </a:fld>
            <a:endParaRPr lang="en-IN">
              <a:solidFill>
                <a:prstClr val="black">
                  <a:tint val="75000"/>
                </a:prstClr>
              </a:solidFill>
              <a:latin typeface="Calibri"/>
            </a:endParaRPr>
          </a:p>
        </p:txBody>
      </p:sp>
      <p:pic>
        <p:nvPicPr>
          <p:cNvPr id="4" name="Picture 3">
            <a:extLst>
              <a:ext uri="{FF2B5EF4-FFF2-40B4-BE49-F238E27FC236}">
                <a16:creationId xmlns:a16="http://schemas.microsoft.com/office/drawing/2014/main" id="{3DFF6BD9-D3C9-FFA0-7D73-A33D9EBD43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4822" y="68263"/>
            <a:ext cx="3693357" cy="1254100"/>
          </a:xfrm>
          <a:prstGeom prst="rect">
            <a:avLst/>
          </a:prstGeom>
        </p:spPr>
      </p:pic>
    </p:spTree>
    <p:extLst>
      <p:ext uri="{BB962C8B-B14F-4D97-AF65-F5344CB8AC3E}">
        <p14:creationId xmlns:p14="http://schemas.microsoft.com/office/powerpoint/2010/main" val="2472531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06731"/>
            <a:ext cx="12056011" cy="4749620"/>
          </a:xfrm>
        </p:spPr>
        <p:txBody>
          <a:bodyPr>
            <a:normAutofit/>
          </a:bodyPr>
          <a:lstStyle/>
          <a:p>
            <a:pPr marL="457200" lvl="0" indent="-457200" algn="just">
              <a:buFont typeface="+mj-lt"/>
              <a:buAutoNum type="arabicPeriod"/>
            </a:pPr>
            <a:r>
              <a:rPr lang="en-IN" sz="28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Outline slide </a:t>
            </a:r>
          </a:p>
          <a:p>
            <a:pPr marL="457200" lvl="0" indent="-457200" algn="just">
              <a:buFont typeface="+mj-lt"/>
              <a:buAutoNum type="arabicPeriod"/>
            </a:pPr>
            <a:r>
              <a:rPr lang="en-IN" sz="28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Introduction </a:t>
            </a:r>
          </a:p>
          <a:p>
            <a:pPr marL="457200" lvl="0" indent="-457200" algn="just">
              <a:buFont typeface="+mj-lt"/>
              <a:buAutoNum type="arabicPeriod"/>
            </a:pPr>
            <a:r>
              <a:rPr lang="en-IN" sz="28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Aim, objective(s) and motivation. </a:t>
            </a:r>
          </a:p>
          <a:p>
            <a:pPr marL="457200" lvl="0" indent="-457200" algn="just">
              <a:buFont typeface="+mj-lt"/>
              <a:buAutoNum type="arabicPeriod"/>
            </a:pPr>
            <a:r>
              <a:rPr lang="en-IN" sz="28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About the industry/TBI / VAC</a:t>
            </a:r>
          </a:p>
          <a:p>
            <a:pPr marL="457200" lvl="0" indent="-457200" algn="just">
              <a:buFont typeface="+mj-lt"/>
              <a:buAutoNum type="arabicPeriod"/>
            </a:pPr>
            <a:r>
              <a:rPr lang="en-IN" sz="28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Certificate (Period of study) </a:t>
            </a:r>
          </a:p>
          <a:p>
            <a:pPr marL="457200" lvl="0" indent="-457200" algn="just">
              <a:buFont typeface="+mj-lt"/>
              <a:buAutoNum type="arabicPeriod"/>
            </a:pPr>
            <a:r>
              <a:rPr lang="en-IN" sz="28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Skills acquired during industrial internship / VAC period </a:t>
            </a:r>
          </a:p>
          <a:p>
            <a:pPr marL="457200" lvl="0" indent="-457200" algn="just">
              <a:buFont typeface="+mj-lt"/>
              <a:buAutoNum type="arabicPeriod"/>
            </a:pPr>
            <a:r>
              <a:rPr lang="en-IN" sz="28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New technologies/Frameworks/real-time problems/Analysis based knowledge acquired during industrial internship </a:t>
            </a:r>
          </a:p>
          <a:p>
            <a:pPr algn="just"/>
            <a:r>
              <a:rPr lang="en-US" sz="2800" dirty="0">
                <a:effectLst/>
                <a:latin typeface="Book Antiqua" panose="02040602050305030304" pitchFamily="18" charset="0"/>
                <a:ea typeface="Calibri" panose="020F0502020204030204" pitchFamily="34" charset="0"/>
                <a:cs typeface="Times New Roman" panose="02020603050405020304" pitchFamily="18" charset="0"/>
              </a:rPr>
              <a:t>Conclusion (Brief Summary) </a:t>
            </a:r>
            <a:endParaRPr lang="en-IN" sz="4000" dirty="0">
              <a:solidFill>
                <a:schemeClr val="tx1"/>
              </a:solidFill>
              <a:latin typeface="Book Antiqua" panose="02040602050305030304" pitchFamily="18" charset="0"/>
              <a:cs typeface="Times New Roman" panose="02020603050405020304" pitchFamily="18" charset="0"/>
            </a:endParaRPr>
          </a:p>
        </p:txBody>
      </p:sp>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Contents (Industry/TBI/VAC) </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dirty="0">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UTKARSH GUPTA     </a:t>
            </a:r>
            <a:r>
              <a:rPr lang="en-IN" b="1" dirty="0">
                <a:latin typeface="Book Antiqua" panose="02040602050305030304" pitchFamily="18" charset="0"/>
                <a:cs typeface="Times New Roman" panose="02020603050405020304" pitchFamily="18" charset="0"/>
              </a:rPr>
              <a:t>22BCT0102</a:t>
            </a:r>
            <a:endParaRPr lang="en-US" dirty="0"/>
          </a:p>
        </p:txBody>
      </p:sp>
    </p:spTree>
    <p:extLst>
      <p:ext uri="{BB962C8B-B14F-4D97-AF65-F5344CB8AC3E}">
        <p14:creationId xmlns:p14="http://schemas.microsoft.com/office/powerpoint/2010/main" val="3721566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7BF1-1843-C066-A6EB-0B5A5F078F87}"/>
              </a:ext>
            </a:extLst>
          </p:cNvPr>
          <p:cNvSpPr>
            <a:spLocks noGrp="1"/>
          </p:cNvSpPr>
          <p:nvPr>
            <p:ph type="title"/>
          </p:nvPr>
        </p:nvSpPr>
        <p:spPr/>
        <p:txBody>
          <a:bodyPr>
            <a:normAutofit/>
          </a:bodyPr>
          <a:lstStyle/>
          <a:p>
            <a:r>
              <a:rPr lang="en-US" sz="3500" dirty="0">
                <a:latin typeface="Book Antiqua" panose="02040602050305030304" pitchFamily="18" charset="0"/>
              </a:rPr>
              <a:t>Introduction</a:t>
            </a:r>
          </a:p>
        </p:txBody>
      </p:sp>
      <p:sp>
        <p:nvSpPr>
          <p:cNvPr id="3" name="Content Placeholder 2">
            <a:extLst>
              <a:ext uri="{FF2B5EF4-FFF2-40B4-BE49-F238E27FC236}">
                <a16:creationId xmlns:a16="http://schemas.microsoft.com/office/drawing/2014/main" id="{31E30A06-066A-FF5C-3E7B-F350FF1E7C7E}"/>
              </a:ext>
            </a:extLst>
          </p:cNvPr>
          <p:cNvSpPr>
            <a:spLocks noGrp="1"/>
          </p:cNvSpPr>
          <p:nvPr>
            <p:ph idx="1"/>
          </p:nvPr>
        </p:nvSpPr>
        <p:spPr/>
        <p:txBody>
          <a:bodyPr/>
          <a:lstStyle/>
          <a:p>
            <a:pPr marL="0" indent="0">
              <a:buNone/>
            </a:pPr>
            <a:r>
              <a:rPr lang="en-US" dirty="0">
                <a:latin typeface="Book Antiqua" panose="02040602050305030304" pitchFamily="18" charset="0"/>
              </a:rPr>
              <a:t>During my internship, I worked on developing a </a:t>
            </a:r>
            <a:r>
              <a:rPr lang="en-US" b="1" dirty="0">
                <a:latin typeface="Book Antiqua" panose="02040602050305030304" pitchFamily="18" charset="0"/>
              </a:rPr>
              <a:t>Model Context Protocol (MCP) Server</a:t>
            </a:r>
            <a:r>
              <a:rPr lang="en-US" dirty="0">
                <a:latin typeface="Book Antiqua" panose="02040602050305030304" pitchFamily="18" charset="0"/>
              </a:rPr>
              <a:t> designed to manage and fetch databases of merchant subscriptions efficiently. The project involved creating a modular system integrating multi-query results, dynamic query generation, and graph-based data relationships, along with a remote client SDK and AI integration with Claude. My key responsibilities included contributing to backend development, database design, query optimization, and testing real-time client interactions.</a:t>
            </a:r>
          </a:p>
          <a:p>
            <a:endParaRPr lang="en-US" dirty="0"/>
          </a:p>
        </p:txBody>
      </p:sp>
      <p:sp>
        <p:nvSpPr>
          <p:cNvPr id="5" name="Rectangle 4">
            <a:extLst>
              <a:ext uri="{FF2B5EF4-FFF2-40B4-BE49-F238E27FC236}">
                <a16:creationId xmlns:a16="http://schemas.microsoft.com/office/drawing/2014/main" id="{DC6CC091-5B91-B7F8-AF86-635A23CAA14F}"/>
              </a:ext>
            </a:extLst>
          </p:cNvPr>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500" dirty="0">
                <a:solidFill>
                  <a:schemeClr val="bg1"/>
                </a:solidFill>
                <a:latin typeface="Book Antiqua" panose="02040602050305030304" pitchFamily="18" charset="0"/>
                <a:cs typeface="Times New Roman" panose="02020603050405020304" pitchFamily="18" charset="0"/>
              </a:rPr>
              <a:t>Introduction</a:t>
            </a:r>
          </a:p>
        </p:txBody>
      </p:sp>
    </p:spTree>
    <p:extLst>
      <p:ext uri="{BB962C8B-B14F-4D97-AF65-F5344CB8AC3E}">
        <p14:creationId xmlns:p14="http://schemas.microsoft.com/office/powerpoint/2010/main" val="4230694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6A241-E9BF-8A75-EA2C-042E5AC0CD06}"/>
              </a:ext>
            </a:extLst>
          </p:cNvPr>
          <p:cNvSpPr>
            <a:spLocks noGrp="1"/>
          </p:cNvSpPr>
          <p:nvPr>
            <p:ph type="title"/>
          </p:nvPr>
        </p:nvSpPr>
        <p:spPr/>
        <p:txBody>
          <a:bodyPr>
            <a:normAutofit/>
          </a:bodyPr>
          <a:lstStyle/>
          <a:p>
            <a:r>
              <a:rPr lang="en-US" sz="3500" dirty="0">
                <a:latin typeface="Book Antiqua" panose="02040602050305030304" pitchFamily="18" charset="0"/>
              </a:rPr>
              <a:t>Aim, Objective(s) and Motivation</a:t>
            </a:r>
            <a:br>
              <a:rPr lang="en-US" sz="3600" b="1" dirty="0"/>
            </a:br>
            <a:endParaRPr lang="en-US" sz="3500"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2CC00FC6-9C62-5322-3675-58A9B115E946}"/>
              </a:ext>
            </a:extLst>
          </p:cNvPr>
          <p:cNvSpPr>
            <a:spLocks noGrp="1"/>
          </p:cNvSpPr>
          <p:nvPr>
            <p:ph idx="1"/>
          </p:nvPr>
        </p:nvSpPr>
        <p:spPr/>
        <p:txBody>
          <a:bodyPr/>
          <a:lstStyle/>
          <a:p>
            <a:pPr marL="0" indent="0">
              <a:buNone/>
            </a:pPr>
            <a:r>
              <a:rPr lang="en-US" sz="2400" b="1" dirty="0">
                <a:latin typeface="Book Antiqua" panose="02040602050305030304" pitchFamily="18" charset="0"/>
              </a:rPr>
              <a:t>Aim:</a:t>
            </a:r>
            <a:r>
              <a:rPr lang="en-US" sz="2400" dirty="0">
                <a:latin typeface="Book Antiqua" panose="02040602050305030304" pitchFamily="18" charset="0"/>
              </a:rPr>
              <a:t> To develop a scalable MCP server capable of efficiently managing merchant subscription data.</a:t>
            </a:r>
          </a:p>
          <a:p>
            <a:pPr marL="0" indent="0">
              <a:buNone/>
            </a:pPr>
            <a:r>
              <a:rPr lang="en-US" sz="2400" b="1" dirty="0">
                <a:latin typeface="Book Antiqua" panose="02040602050305030304" pitchFamily="18" charset="0"/>
              </a:rPr>
              <a:t>Objectives:</a:t>
            </a:r>
            <a:endParaRPr lang="en-US" sz="2400" dirty="0">
              <a:latin typeface="Book Antiqua" panose="02040602050305030304" pitchFamily="18" charset="0"/>
            </a:endParaRPr>
          </a:p>
          <a:p>
            <a:pPr lvl="1"/>
            <a:r>
              <a:rPr lang="en-US" dirty="0">
                <a:latin typeface="Book Antiqua" panose="02040602050305030304" pitchFamily="18" charset="0"/>
              </a:rPr>
              <a:t>Implement multi-query execution and dynamic query generation.</a:t>
            </a:r>
          </a:p>
          <a:p>
            <a:pPr lvl="1"/>
            <a:r>
              <a:rPr lang="en-US" dirty="0">
                <a:latin typeface="Book Antiqua" panose="02040602050305030304" pitchFamily="18" charset="0"/>
              </a:rPr>
              <a:t>Integrate graph-based data relationships for real-time dependency mapping.</a:t>
            </a:r>
          </a:p>
          <a:p>
            <a:pPr lvl="1"/>
            <a:r>
              <a:rPr lang="en-US" dirty="0">
                <a:latin typeface="Book Antiqua" panose="02040602050305030304" pitchFamily="18" charset="0"/>
              </a:rPr>
              <a:t>Design remote client SDK and integrate Claude AI for intelligent query handling.</a:t>
            </a:r>
          </a:p>
          <a:p>
            <a:pPr marL="0" indent="0">
              <a:buNone/>
            </a:pPr>
            <a:r>
              <a:rPr lang="en-US" sz="2400" b="1" dirty="0">
                <a:latin typeface="Book Antiqua" panose="02040602050305030304" pitchFamily="18" charset="0"/>
              </a:rPr>
              <a:t>Motivation:</a:t>
            </a:r>
            <a:r>
              <a:rPr lang="en-US" sz="2400" dirty="0">
                <a:latin typeface="Book Antiqua" panose="02040602050305030304" pitchFamily="18" charset="0"/>
              </a:rPr>
              <a:t> To automate and streamline Paytm's merchant data processing with advanced backend and AI-driven insights.</a:t>
            </a:r>
          </a:p>
          <a:p>
            <a:endParaRPr lang="en-US" dirty="0"/>
          </a:p>
        </p:txBody>
      </p:sp>
      <p:sp>
        <p:nvSpPr>
          <p:cNvPr id="4" name="Rectangle 4">
            <a:extLst>
              <a:ext uri="{FF2B5EF4-FFF2-40B4-BE49-F238E27FC236}">
                <a16:creationId xmlns:a16="http://schemas.microsoft.com/office/drawing/2014/main" id="{CD2C9DC4-FF15-C043-1D95-CF04C29DCC56}"/>
              </a:ext>
            </a:extLst>
          </p:cNvPr>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b="1" dirty="0">
                <a:solidFill>
                  <a:schemeClr val="bg1"/>
                </a:solidFill>
              </a:rPr>
              <a:t>Aim, Objective(s) and Motivation</a:t>
            </a:r>
          </a:p>
        </p:txBody>
      </p:sp>
    </p:spTree>
    <p:extLst>
      <p:ext uri="{BB962C8B-B14F-4D97-AF65-F5344CB8AC3E}">
        <p14:creationId xmlns:p14="http://schemas.microsoft.com/office/powerpoint/2010/main" val="2336513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3BF08-5F78-83E7-9D7B-D9FB4B4B4D48}"/>
              </a:ext>
            </a:extLst>
          </p:cNvPr>
          <p:cNvSpPr>
            <a:spLocks noGrp="1"/>
          </p:cNvSpPr>
          <p:nvPr>
            <p:ph type="title"/>
          </p:nvPr>
        </p:nvSpPr>
        <p:spPr/>
        <p:txBody>
          <a:bodyPr>
            <a:normAutofit/>
          </a:bodyPr>
          <a:lstStyle/>
          <a:p>
            <a:r>
              <a:rPr lang="en-US" sz="3500" dirty="0">
                <a:latin typeface="Book Antiqua" panose="02040602050305030304" pitchFamily="18" charset="0"/>
              </a:rPr>
              <a:t>About Paytm</a:t>
            </a:r>
          </a:p>
        </p:txBody>
      </p:sp>
      <p:sp>
        <p:nvSpPr>
          <p:cNvPr id="3" name="Content Placeholder 2">
            <a:extLst>
              <a:ext uri="{FF2B5EF4-FFF2-40B4-BE49-F238E27FC236}">
                <a16:creationId xmlns:a16="http://schemas.microsoft.com/office/drawing/2014/main" id="{9CDD258F-F173-795A-841F-8F19286123C0}"/>
              </a:ext>
            </a:extLst>
          </p:cNvPr>
          <p:cNvSpPr>
            <a:spLocks noGrp="1"/>
          </p:cNvSpPr>
          <p:nvPr>
            <p:ph idx="1"/>
          </p:nvPr>
        </p:nvSpPr>
        <p:spPr/>
        <p:txBody>
          <a:bodyPr/>
          <a:lstStyle/>
          <a:p>
            <a:pPr marL="0" indent="0">
              <a:buNone/>
            </a:pPr>
            <a:r>
              <a:rPr lang="en-US" dirty="0">
                <a:latin typeface="Book Antiqua" panose="02040602050305030304" pitchFamily="18" charset="0"/>
              </a:rPr>
              <a:t>Paytm is India’s leading digital payment and financial services platform headquartered in Noida. It provides a wide range of services such as mobile recharges, bill payments, merchant transactions, and online financial solutions. The company operates in a dynamic fintech ecosystem, offering a great environment for learning backend and data-driven systems.</a:t>
            </a:r>
          </a:p>
          <a:p>
            <a:endParaRPr lang="en-US" dirty="0">
              <a:latin typeface="Book Antiqua" panose="02040602050305030304" pitchFamily="18" charset="0"/>
            </a:endParaRPr>
          </a:p>
        </p:txBody>
      </p:sp>
      <p:sp>
        <p:nvSpPr>
          <p:cNvPr id="4" name="Rectangle 4">
            <a:extLst>
              <a:ext uri="{FF2B5EF4-FFF2-40B4-BE49-F238E27FC236}">
                <a16:creationId xmlns:a16="http://schemas.microsoft.com/office/drawing/2014/main" id="{50C5A7B4-5A2B-CCEB-F8AC-C829B17F8E66}"/>
              </a:ext>
            </a:extLst>
          </p:cNvPr>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b="1" dirty="0">
                <a:solidFill>
                  <a:schemeClr val="bg1"/>
                </a:solidFill>
                <a:latin typeface="Book Antiqua" panose="02040602050305030304" pitchFamily="18" charset="0"/>
              </a:rPr>
              <a:t>About Paytm</a:t>
            </a:r>
          </a:p>
        </p:txBody>
      </p:sp>
    </p:spTree>
    <p:extLst>
      <p:ext uri="{BB962C8B-B14F-4D97-AF65-F5344CB8AC3E}">
        <p14:creationId xmlns:p14="http://schemas.microsoft.com/office/powerpoint/2010/main" val="246542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B0074-27D4-9DB2-DFBF-2D33D1F8F60D}"/>
              </a:ext>
            </a:extLst>
          </p:cNvPr>
          <p:cNvSpPr>
            <a:spLocks noGrp="1"/>
          </p:cNvSpPr>
          <p:nvPr>
            <p:ph type="title"/>
          </p:nvPr>
        </p:nvSpPr>
        <p:spPr/>
        <p:txBody>
          <a:bodyPr/>
          <a:lstStyle/>
          <a:p>
            <a:r>
              <a:rPr lang="en-US" sz="3500" dirty="0">
                <a:latin typeface="Book Antiqua" panose="02040602050305030304" pitchFamily="18" charset="0"/>
              </a:rPr>
              <a:t>Certificate</a:t>
            </a:r>
            <a:br>
              <a:rPr lang="en-US" b="1" dirty="0"/>
            </a:br>
            <a:endParaRPr lang="en-US" dirty="0"/>
          </a:p>
        </p:txBody>
      </p:sp>
      <p:pic>
        <p:nvPicPr>
          <p:cNvPr id="4" name="Content Placeholder 3" descr="A close-up of a document&#10;&#10;AI-generated content may be incorrect.">
            <a:extLst>
              <a:ext uri="{FF2B5EF4-FFF2-40B4-BE49-F238E27FC236}">
                <a16:creationId xmlns:a16="http://schemas.microsoft.com/office/drawing/2014/main" id="{AD696ED6-5940-F3AD-3437-190750660A6D}"/>
              </a:ext>
            </a:extLst>
          </p:cNvPr>
          <p:cNvPicPr>
            <a:picLocks noGrp="1" noChangeAspect="1"/>
          </p:cNvPicPr>
          <p:nvPr>
            <p:ph idx="1"/>
          </p:nvPr>
        </p:nvPicPr>
        <p:blipFill>
          <a:blip r:embed="rId2"/>
          <a:stretch>
            <a:fillRect/>
          </a:stretch>
        </p:blipFill>
        <p:spPr>
          <a:xfrm>
            <a:off x="4536363" y="1825625"/>
            <a:ext cx="3119273" cy="4351338"/>
          </a:xfrm>
          <a:prstGeom prst="rect">
            <a:avLst/>
          </a:prstGeom>
        </p:spPr>
      </p:pic>
      <p:sp>
        <p:nvSpPr>
          <p:cNvPr id="5" name="Rectangle 4">
            <a:extLst>
              <a:ext uri="{FF2B5EF4-FFF2-40B4-BE49-F238E27FC236}">
                <a16:creationId xmlns:a16="http://schemas.microsoft.com/office/drawing/2014/main" id="{6FFEB617-5C2A-A351-0305-FEFCEF3B6D01}"/>
              </a:ext>
            </a:extLst>
          </p:cNvPr>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b="1" dirty="0">
                <a:solidFill>
                  <a:schemeClr val="bg1"/>
                </a:solidFill>
              </a:rPr>
              <a:t>Certificate</a:t>
            </a:r>
          </a:p>
        </p:txBody>
      </p:sp>
    </p:spTree>
    <p:extLst>
      <p:ext uri="{BB962C8B-B14F-4D97-AF65-F5344CB8AC3E}">
        <p14:creationId xmlns:p14="http://schemas.microsoft.com/office/powerpoint/2010/main" val="598655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3AD10-F059-91BD-617D-B8298EB1EAFF}"/>
              </a:ext>
            </a:extLst>
          </p:cNvPr>
          <p:cNvSpPr>
            <a:spLocks noGrp="1"/>
          </p:cNvSpPr>
          <p:nvPr>
            <p:ph type="title"/>
          </p:nvPr>
        </p:nvSpPr>
        <p:spPr/>
        <p:txBody>
          <a:bodyPr>
            <a:normAutofit/>
          </a:bodyPr>
          <a:lstStyle/>
          <a:p>
            <a:r>
              <a:rPr lang="en-US" sz="3500" dirty="0">
                <a:latin typeface="Book Antiqua" panose="02040602050305030304" pitchFamily="18" charset="0"/>
              </a:rPr>
              <a:t>Skills Acquired During Industrial Internship Period</a:t>
            </a:r>
            <a:br>
              <a:rPr lang="en-US" sz="3600" b="1" dirty="0"/>
            </a:br>
            <a:endParaRPr lang="en-US" sz="3500"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4A9324C7-AB92-9525-164A-B152CB3D727F}"/>
              </a:ext>
            </a:extLst>
          </p:cNvPr>
          <p:cNvSpPr>
            <a:spLocks noGrp="1"/>
          </p:cNvSpPr>
          <p:nvPr>
            <p:ph idx="1"/>
          </p:nvPr>
        </p:nvSpPr>
        <p:spPr/>
        <p:txBody>
          <a:bodyPr/>
          <a:lstStyle/>
          <a:p>
            <a:pPr marL="0" indent="0">
              <a:buNone/>
            </a:pPr>
            <a:r>
              <a:rPr lang="en-US" b="1" dirty="0">
                <a:latin typeface="Book Antiqua" panose="02040602050305030304" pitchFamily="18" charset="0"/>
              </a:rPr>
              <a:t>Technical Skills:</a:t>
            </a:r>
            <a:endParaRPr lang="en-US" dirty="0">
              <a:latin typeface="Book Antiqua" panose="02040602050305030304" pitchFamily="18" charset="0"/>
            </a:endParaRPr>
          </a:p>
          <a:p>
            <a:pPr lvl="1"/>
            <a:r>
              <a:rPr lang="en-US" dirty="0">
                <a:latin typeface="Book Antiqua" panose="02040602050305030304" pitchFamily="18" charset="0"/>
              </a:rPr>
              <a:t>Backend development and database management</a:t>
            </a:r>
          </a:p>
          <a:p>
            <a:pPr lvl="1"/>
            <a:r>
              <a:rPr lang="en-US" dirty="0">
                <a:latin typeface="Book Antiqua" panose="02040602050305030304" pitchFamily="18" charset="0"/>
              </a:rPr>
              <a:t>Query optimization and data structuring</a:t>
            </a:r>
          </a:p>
          <a:p>
            <a:pPr lvl="1"/>
            <a:r>
              <a:rPr lang="en-US" dirty="0">
                <a:latin typeface="Book Antiqua" panose="02040602050305030304" pitchFamily="18" charset="0"/>
              </a:rPr>
              <a:t>AI and API integration for automated query generation</a:t>
            </a:r>
          </a:p>
          <a:p>
            <a:pPr marL="0" indent="0">
              <a:buNone/>
            </a:pPr>
            <a:r>
              <a:rPr lang="en-US" b="1" dirty="0">
                <a:latin typeface="Book Antiqua" panose="02040602050305030304" pitchFamily="18" charset="0"/>
              </a:rPr>
              <a:t>Soft Skills:</a:t>
            </a:r>
            <a:endParaRPr lang="en-US" dirty="0">
              <a:latin typeface="Book Antiqua" panose="02040602050305030304" pitchFamily="18" charset="0"/>
            </a:endParaRPr>
          </a:p>
          <a:p>
            <a:pPr lvl="1"/>
            <a:r>
              <a:rPr lang="en-US" dirty="0">
                <a:latin typeface="Book Antiqua" panose="02040602050305030304" pitchFamily="18" charset="0"/>
              </a:rPr>
              <a:t>Team collaboration, communication, and documentation</a:t>
            </a:r>
          </a:p>
          <a:p>
            <a:pPr lvl="1"/>
            <a:r>
              <a:rPr lang="en-US" dirty="0">
                <a:latin typeface="Book Antiqua" panose="02040602050305030304" pitchFamily="18" charset="0"/>
              </a:rPr>
              <a:t>Problem-solving and analytical thinking</a:t>
            </a:r>
          </a:p>
          <a:p>
            <a:pPr marL="0" indent="0">
              <a:buNone/>
            </a:pPr>
            <a:r>
              <a:rPr lang="en-US" b="1" dirty="0">
                <a:latin typeface="Book Antiqua" panose="02040602050305030304" pitchFamily="18" charset="0"/>
              </a:rPr>
              <a:t>Domain Knowledge:</a:t>
            </a:r>
            <a:endParaRPr lang="en-US" dirty="0">
              <a:latin typeface="Book Antiqua" panose="02040602050305030304" pitchFamily="18" charset="0"/>
            </a:endParaRPr>
          </a:p>
          <a:p>
            <a:pPr lvl="1"/>
            <a:r>
              <a:rPr lang="en-US" dirty="0">
                <a:latin typeface="Book Antiqua" panose="02040602050305030304" pitchFamily="18" charset="0"/>
              </a:rPr>
              <a:t>Merchant subscription systems and intelligent server design</a:t>
            </a:r>
          </a:p>
          <a:p>
            <a:endParaRPr lang="en-US" dirty="0"/>
          </a:p>
        </p:txBody>
      </p:sp>
      <p:sp>
        <p:nvSpPr>
          <p:cNvPr id="4" name="Rectangle 4">
            <a:extLst>
              <a:ext uri="{FF2B5EF4-FFF2-40B4-BE49-F238E27FC236}">
                <a16:creationId xmlns:a16="http://schemas.microsoft.com/office/drawing/2014/main" id="{09946C3F-5746-FA38-40B3-0A84D9099A48}"/>
              </a:ext>
            </a:extLst>
          </p:cNvPr>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b="1" dirty="0">
                <a:solidFill>
                  <a:schemeClr val="bg1"/>
                </a:solidFill>
                <a:latin typeface="Book Antiqua" panose="02040602050305030304" pitchFamily="18" charset="0"/>
              </a:rPr>
              <a:t>Skills Acquired During Industrial Internship Period</a:t>
            </a:r>
          </a:p>
        </p:txBody>
      </p:sp>
    </p:spTree>
    <p:extLst>
      <p:ext uri="{BB962C8B-B14F-4D97-AF65-F5344CB8AC3E}">
        <p14:creationId xmlns:p14="http://schemas.microsoft.com/office/powerpoint/2010/main" val="1138624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4E1-4E13-3240-3B26-CCE6C1DE7F54}"/>
              </a:ext>
            </a:extLst>
          </p:cNvPr>
          <p:cNvSpPr>
            <a:spLocks noGrp="1"/>
          </p:cNvSpPr>
          <p:nvPr>
            <p:ph type="title"/>
          </p:nvPr>
        </p:nvSpPr>
        <p:spPr/>
        <p:txBody>
          <a:bodyPr>
            <a:normAutofit fontScale="90000"/>
          </a:bodyPr>
          <a:lstStyle/>
          <a:p>
            <a:r>
              <a:rPr lang="en-US" sz="3600" dirty="0"/>
              <a:t>New Technologies/Frameworks/Real-Time Problems/Analysis</a:t>
            </a:r>
            <a:br>
              <a:rPr lang="en-US" sz="3600" dirty="0"/>
            </a:br>
            <a:r>
              <a:rPr lang="en-US" sz="3600" dirty="0"/>
              <a:t>Technologies and Tools Used:</a:t>
            </a:r>
            <a:br>
              <a:rPr lang="en-US" sz="3600" dirty="0"/>
            </a:br>
            <a:endParaRPr lang="en-US" sz="3500"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BCDFE1B3-FB0A-1AD0-5254-AE3EFCB61070}"/>
              </a:ext>
            </a:extLst>
          </p:cNvPr>
          <p:cNvSpPr>
            <a:spLocks noGrp="1"/>
          </p:cNvSpPr>
          <p:nvPr>
            <p:ph idx="1"/>
          </p:nvPr>
        </p:nvSpPr>
        <p:spPr/>
        <p:txBody>
          <a:bodyPr/>
          <a:lstStyle/>
          <a:p>
            <a:pPr marL="0" indent="0">
              <a:buNone/>
            </a:pPr>
            <a:r>
              <a:rPr lang="en-US" b="1" dirty="0">
                <a:latin typeface="Book Antiqua" panose="02040602050305030304" pitchFamily="18" charset="0"/>
              </a:rPr>
              <a:t>Programming Languages:</a:t>
            </a:r>
            <a:r>
              <a:rPr lang="en-US" dirty="0">
                <a:latin typeface="Book Antiqua" panose="02040602050305030304" pitchFamily="18" charset="0"/>
              </a:rPr>
              <a:t> Python, JavaScript</a:t>
            </a:r>
          </a:p>
          <a:p>
            <a:pPr marL="0" indent="0">
              <a:buNone/>
            </a:pPr>
            <a:r>
              <a:rPr lang="en-US" b="1" dirty="0">
                <a:latin typeface="Book Antiqua" panose="02040602050305030304" pitchFamily="18" charset="0"/>
              </a:rPr>
              <a:t>Frameworks:</a:t>
            </a:r>
            <a:r>
              <a:rPr lang="en-US" dirty="0">
                <a:latin typeface="Book Antiqua" panose="02040602050305030304" pitchFamily="18" charset="0"/>
              </a:rPr>
              <a:t> Node.js, </a:t>
            </a:r>
            <a:r>
              <a:rPr lang="en-US" dirty="0" err="1">
                <a:latin typeface="Book Antiqua" panose="02040602050305030304" pitchFamily="18" charset="0"/>
              </a:rPr>
              <a:t>FastAPI</a:t>
            </a:r>
            <a:endParaRPr lang="en-US" dirty="0">
              <a:latin typeface="Book Antiqua" panose="02040602050305030304" pitchFamily="18" charset="0"/>
            </a:endParaRPr>
          </a:p>
          <a:p>
            <a:pPr marL="0" indent="0">
              <a:buNone/>
            </a:pPr>
            <a:r>
              <a:rPr lang="en-US" b="1" dirty="0">
                <a:latin typeface="Book Antiqua" panose="02040602050305030304" pitchFamily="18" charset="0"/>
              </a:rPr>
              <a:t>Databases:</a:t>
            </a:r>
            <a:r>
              <a:rPr lang="en-US" dirty="0">
                <a:latin typeface="Book Antiqua" panose="02040602050305030304" pitchFamily="18" charset="0"/>
              </a:rPr>
              <a:t> PostgreSQL, Neo4j (for graph implementation)</a:t>
            </a:r>
          </a:p>
          <a:p>
            <a:pPr marL="0" indent="0">
              <a:buNone/>
            </a:pPr>
            <a:r>
              <a:rPr lang="en-US" b="1" dirty="0">
                <a:latin typeface="Book Antiqua" panose="02040602050305030304" pitchFamily="18" charset="0"/>
              </a:rPr>
              <a:t>Tools:</a:t>
            </a:r>
            <a:r>
              <a:rPr lang="en-US" dirty="0">
                <a:latin typeface="Book Antiqua" panose="02040602050305030304" pitchFamily="18" charset="0"/>
              </a:rPr>
              <a:t> MCP, Git, API Testing Platforms, Claude AI Integration</a:t>
            </a:r>
          </a:p>
          <a:p>
            <a:pPr marL="0" indent="0">
              <a:buNone/>
            </a:pPr>
            <a:r>
              <a:rPr lang="en-US" b="1" dirty="0">
                <a:latin typeface="Book Antiqua" panose="02040602050305030304" pitchFamily="18" charset="0"/>
              </a:rPr>
              <a:t>Concepts:</a:t>
            </a:r>
            <a:r>
              <a:rPr lang="en-US" dirty="0">
                <a:latin typeface="Book Antiqua" panose="02040602050305030304" pitchFamily="18" charset="0"/>
              </a:rPr>
              <a:t> Dynamic Query Generation, Caching, Graph Traversal</a:t>
            </a:r>
            <a:endParaRPr lang="en-US" dirty="0"/>
          </a:p>
        </p:txBody>
      </p:sp>
      <p:sp>
        <p:nvSpPr>
          <p:cNvPr id="4" name="Rectangle 4">
            <a:extLst>
              <a:ext uri="{FF2B5EF4-FFF2-40B4-BE49-F238E27FC236}">
                <a16:creationId xmlns:a16="http://schemas.microsoft.com/office/drawing/2014/main" id="{A4195FC4-1481-6EBF-8B9E-B4009A201D5C}"/>
              </a:ext>
            </a:extLst>
          </p:cNvPr>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chemeClr val="bg1"/>
                </a:solidFill>
                <a:latin typeface="Book Antiqua" panose="02040602050305030304" pitchFamily="18" charset="0"/>
              </a:rPr>
              <a:t>New Technologies/Frameworks/Real-Time Problems/Analysis</a:t>
            </a:r>
          </a:p>
          <a:p>
            <a:pPr algn="l"/>
            <a:r>
              <a:rPr lang="en-US" sz="3600" b="1" dirty="0">
                <a:solidFill>
                  <a:schemeClr val="bg1"/>
                </a:solidFill>
                <a:latin typeface="Book Antiqua" panose="02040602050305030304" pitchFamily="18" charset="0"/>
              </a:rPr>
              <a:t>Technologies and Tools Used:</a:t>
            </a:r>
            <a:endParaRPr lang="en-US" sz="3600" dirty="0">
              <a:solidFill>
                <a:schemeClr val="bg1"/>
              </a:solidFill>
              <a:latin typeface="Book Antiqua" panose="02040602050305030304" pitchFamily="18" charset="0"/>
            </a:endParaRPr>
          </a:p>
        </p:txBody>
      </p:sp>
    </p:spTree>
    <p:extLst>
      <p:ext uri="{BB962C8B-B14F-4D97-AF65-F5344CB8AC3E}">
        <p14:creationId xmlns:p14="http://schemas.microsoft.com/office/powerpoint/2010/main" val="1709732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C46BD2-D258-7F5F-14D9-0B721A4E3F16}"/>
              </a:ext>
            </a:extLst>
          </p:cNvPr>
          <p:cNvSpPr txBox="1"/>
          <p:nvPr/>
        </p:nvSpPr>
        <p:spPr>
          <a:xfrm>
            <a:off x="566928" y="466344"/>
            <a:ext cx="10186416" cy="3970318"/>
          </a:xfrm>
          <a:prstGeom prst="rect">
            <a:avLst/>
          </a:prstGeom>
          <a:noFill/>
        </p:spPr>
        <p:txBody>
          <a:bodyPr wrap="square">
            <a:spAutoFit/>
          </a:bodyPr>
          <a:lstStyle/>
          <a:p>
            <a:pPr>
              <a:buNone/>
            </a:pPr>
            <a:r>
              <a:rPr lang="en-US" sz="2800" b="1" dirty="0">
                <a:latin typeface="Book Antiqua" panose="02040602050305030304" pitchFamily="18" charset="0"/>
              </a:rPr>
              <a:t>Real-Time Problems and Solutions:</a:t>
            </a:r>
            <a:endParaRPr lang="en-US" sz="2800" dirty="0">
              <a:latin typeface="Book Antiqua" panose="02040602050305030304" pitchFamily="18" charset="0"/>
            </a:endParaRPr>
          </a:p>
          <a:p>
            <a:r>
              <a:rPr lang="en-US" sz="2800" b="1" dirty="0">
                <a:latin typeface="Book Antiqua" panose="02040602050305030304" pitchFamily="18" charset="0"/>
              </a:rPr>
              <a:t>Challenge 1:</a:t>
            </a:r>
            <a:r>
              <a:rPr lang="en-US" sz="2800" dirty="0">
                <a:latin typeface="Book Antiqua" panose="02040602050305030304" pitchFamily="18" charset="0"/>
              </a:rPr>
              <a:t> Multi-query execution led to performance bottlenecks on large datasets.</a:t>
            </a:r>
          </a:p>
          <a:p>
            <a:pPr marL="742950" lvl="1" indent="-285750">
              <a:buFont typeface="Arial" panose="020B0604020202020204" pitchFamily="34" charset="0"/>
              <a:buChar char="•"/>
            </a:pPr>
            <a:r>
              <a:rPr lang="en-US" sz="2800" b="1" dirty="0">
                <a:latin typeface="Book Antiqua" panose="02040602050305030304" pitchFamily="18" charset="0"/>
              </a:rPr>
              <a:t>Solution:</a:t>
            </a:r>
            <a:r>
              <a:rPr lang="en-US" sz="2800" dirty="0">
                <a:latin typeface="Book Antiqua" panose="02040602050305030304" pitchFamily="18" charset="0"/>
              </a:rPr>
              <a:t> Used caching, query batching, and database indexing to optimize performance.</a:t>
            </a:r>
          </a:p>
          <a:p>
            <a:r>
              <a:rPr lang="en-US" sz="2800" b="1" dirty="0">
                <a:latin typeface="Book Antiqua" panose="02040602050305030304" pitchFamily="18" charset="0"/>
              </a:rPr>
              <a:t>Challenge 2:</a:t>
            </a:r>
            <a:r>
              <a:rPr lang="en-US" sz="2800" dirty="0">
                <a:latin typeface="Book Antiqua" panose="02040602050305030304" pitchFamily="18" charset="0"/>
              </a:rPr>
              <a:t> Translating Claude AI natural language queries into structured queries.</a:t>
            </a:r>
          </a:p>
          <a:p>
            <a:pPr marL="742950" lvl="1" indent="-285750">
              <a:buFont typeface="Arial" panose="020B0604020202020204" pitchFamily="34" charset="0"/>
              <a:buChar char="•"/>
            </a:pPr>
            <a:r>
              <a:rPr lang="en-US" sz="2800" b="1" dirty="0">
                <a:latin typeface="Book Antiqua" panose="02040602050305030304" pitchFamily="18" charset="0"/>
              </a:rPr>
              <a:t>Solution:</a:t>
            </a:r>
            <a:r>
              <a:rPr lang="en-US" sz="2800" dirty="0">
                <a:latin typeface="Book Antiqua" panose="02040602050305030304" pitchFamily="18" charset="0"/>
              </a:rPr>
              <a:t> Implemented iterative prompt tuning and query mapping to ensure accuracy and relevance.</a:t>
            </a:r>
          </a:p>
        </p:txBody>
      </p:sp>
    </p:spTree>
    <p:extLst>
      <p:ext uri="{BB962C8B-B14F-4D97-AF65-F5344CB8AC3E}">
        <p14:creationId xmlns:p14="http://schemas.microsoft.com/office/powerpoint/2010/main" val="1059746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CC360-1124-B9DA-D828-A0B72941F6AA}"/>
              </a:ext>
            </a:extLst>
          </p:cNvPr>
          <p:cNvSpPr>
            <a:spLocks noGrp="1"/>
          </p:cNvSpPr>
          <p:nvPr>
            <p:ph type="title"/>
          </p:nvPr>
        </p:nvSpPr>
        <p:spPr/>
        <p:txBody>
          <a:bodyPr/>
          <a:lstStyle/>
          <a:p>
            <a:r>
              <a:rPr lang="en-US" sz="3500" dirty="0">
                <a:latin typeface="Book Antiqua" panose="02040602050305030304" pitchFamily="18" charset="0"/>
              </a:rPr>
              <a:t>Conclusion</a:t>
            </a:r>
            <a:br>
              <a:rPr lang="en-US" b="1" dirty="0"/>
            </a:br>
            <a:endParaRPr lang="en-US" dirty="0"/>
          </a:p>
        </p:txBody>
      </p:sp>
      <p:sp>
        <p:nvSpPr>
          <p:cNvPr id="3" name="Content Placeholder 2">
            <a:extLst>
              <a:ext uri="{FF2B5EF4-FFF2-40B4-BE49-F238E27FC236}">
                <a16:creationId xmlns:a16="http://schemas.microsoft.com/office/drawing/2014/main" id="{14E74A3B-4FF7-910E-A29B-CD46657D4DBF}"/>
              </a:ext>
            </a:extLst>
          </p:cNvPr>
          <p:cNvSpPr>
            <a:spLocks noGrp="1"/>
          </p:cNvSpPr>
          <p:nvPr>
            <p:ph idx="1"/>
          </p:nvPr>
        </p:nvSpPr>
        <p:spPr/>
        <p:txBody>
          <a:bodyPr/>
          <a:lstStyle/>
          <a:p>
            <a:pPr marL="0" indent="0">
              <a:buNone/>
            </a:pPr>
            <a:r>
              <a:rPr lang="en-US" dirty="0">
                <a:latin typeface="Book Antiqua" panose="02040602050305030304" pitchFamily="18" charset="0"/>
              </a:rPr>
              <a:t>This internship at Paytm provided a comprehensive exposure to real-world backend system development and AI integration. It enhanced both my technical and interpersonal skills while allowing me to contribute to an impactful project. The project improved my understanding of distributed systems, performance tuning, and AI-driven backend automation.</a:t>
            </a:r>
          </a:p>
          <a:p>
            <a:endParaRPr lang="en-US" dirty="0"/>
          </a:p>
        </p:txBody>
      </p:sp>
      <p:sp>
        <p:nvSpPr>
          <p:cNvPr id="4" name="Rectangle 4">
            <a:extLst>
              <a:ext uri="{FF2B5EF4-FFF2-40B4-BE49-F238E27FC236}">
                <a16:creationId xmlns:a16="http://schemas.microsoft.com/office/drawing/2014/main" id="{E179D417-C197-F80B-3063-7B375C2EA948}"/>
              </a:ext>
            </a:extLst>
          </p:cNvPr>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b="1" dirty="0">
                <a:solidFill>
                  <a:schemeClr val="bg1"/>
                </a:solidFill>
                <a:latin typeface="Book Antiqua" panose="02040602050305030304" pitchFamily="18" charset="0"/>
              </a:rPr>
              <a:t>Conclusion</a:t>
            </a:r>
          </a:p>
        </p:txBody>
      </p:sp>
    </p:spTree>
    <p:extLst>
      <p:ext uri="{BB962C8B-B14F-4D97-AF65-F5344CB8AC3E}">
        <p14:creationId xmlns:p14="http://schemas.microsoft.com/office/powerpoint/2010/main" val="21067243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628</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Book Antiqua</vt:lpstr>
      <vt:lpstr>Calibri</vt:lpstr>
      <vt:lpstr>Office Theme</vt:lpstr>
      <vt:lpstr>PowerPoint Presentation</vt:lpstr>
      <vt:lpstr>PowerPoint Presentation</vt:lpstr>
      <vt:lpstr>Introduction</vt:lpstr>
      <vt:lpstr>Aim, Objective(s) and Motivation </vt:lpstr>
      <vt:lpstr>About Paytm</vt:lpstr>
      <vt:lpstr>Certificate </vt:lpstr>
      <vt:lpstr>Skills Acquired During Industrial Internship Period </vt:lpstr>
      <vt:lpstr>New Technologies/Frameworks/Real-Time Problems/Analysis Technologies and Tools Used: </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  K  Saravanaguru</dc:creator>
  <cp:lastModifiedBy>Utkarsh Gupta</cp:lastModifiedBy>
  <cp:revision>11</cp:revision>
  <dcterms:created xsi:type="dcterms:W3CDTF">2024-04-30T11:07:50Z</dcterms:created>
  <dcterms:modified xsi:type="dcterms:W3CDTF">2025-10-29T20:48:32Z</dcterms:modified>
</cp:coreProperties>
</file>